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9" r:id="rId5"/>
    <p:sldId id="2147470494" r:id="rId6"/>
    <p:sldId id="2147470495" r:id="rId7"/>
    <p:sldId id="2147470496" r:id="rId8"/>
    <p:sldId id="2147470497" r:id="rId9"/>
    <p:sldId id="2147470491" r:id="rId10"/>
    <p:sldId id="2147470487" r:id="rId11"/>
    <p:sldId id="2147470501" r:id="rId12"/>
    <p:sldId id="2147470502" r:id="rId13"/>
    <p:sldId id="2147470503" r:id="rId14"/>
    <p:sldId id="2147470504" r:id="rId15"/>
    <p:sldId id="2147470505" r:id="rId16"/>
    <p:sldId id="2147470506" r:id="rId17"/>
    <p:sldId id="2147470498" r:id="rId18"/>
    <p:sldId id="2147470507" r:id="rId19"/>
    <p:sldId id="2147470508" r:id="rId20"/>
    <p:sldId id="2147470509" r:id="rId21"/>
    <p:sldId id="2147470510" r:id="rId22"/>
    <p:sldId id="2147470511" r:id="rId23"/>
    <p:sldId id="2147470512" r:id="rId24"/>
    <p:sldId id="2147470513" r:id="rId25"/>
    <p:sldId id="2147470500" r:id="rId26"/>
    <p:sldId id="214747051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TravelMind</a:t>
            </a:r>
            <a:r>
              <a:rPr lang="en-US" dirty="0"/>
              <a:t>: A Multi-Agent AI System for Personalized Travel Planning</a:t>
            </a:r>
          </a:p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Review 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Paladi Raghu (25MML0029)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338931-610A-DC26-A029-041661CA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7642"/>
            <a:ext cx="1891160" cy="6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480" y="1026532"/>
            <a:ext cx="12001319" cy="545126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Fragmented Travel Ecosystem: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Modern </a:t>
            </a:r>
            <a:r>
              <a:rPr lang="en-IN" sz="2800" dirty="0" err="1"/>
              <a:t>travelers</a:t>
            </a:r>
            <a:r>
              <a:rPr lang="en-IN" sz="2800" dirty="0"/>
              <a:t> juggle 8–10 disparate applications (flights, hotels, attractions, weather forecasts, and budgeting), causing severe decision fatigue and hours of manual research.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The </a:t>
            </a:r>
            <a:r>
              <a:rPr lang="en-IN" dirty="0" err="1"/>
              <a:t>TravelMind</a:t>
            </a:r>
            <a:r>
              <a:rPr lang="en-IN" dirty="0"/>
              <a:t> Solution: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An autonomous Multi-Agent AI System where 8 specialized agents collaborate concurrently via Python </a:t>
            </a:r>
            <a:r>
              <a:rPr lang="en-IN" sz="2800" dirty="0" err="1"/>
              <a:t>asyncio</a:t>
            </a:r>
            <a:r>
              <a:rPr lang="en-IN" sz="2800" dirty="0"/>
              <a:t> to formulate a completely unified, personalized itinerary within ~2 seconds.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Hybrid Intelligence Paradigm: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Uniquely integrates live API grounding (Amadeus, Foursquare, Ticketmaster) with sequential Deep Learning (</a:t>
            </a:r>
            <a:r>
              <a:rPr lang="en-IN" sz="2800" dirty="0" err="1"/>
              <a:t>SASRec</a:t>
            </a:r>
            <a:r>
              <a:rPr lang="en-IN" sz="2800" dirty="0"/>
              <a:t> + DQN) and LLM cognitive reasoning 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5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55995" y="1026532"/>
            <a:ext cx="755112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E3B44A-461C-6435-F3D7-24C0C41DCE29}"/>
              </a:ext>
            </a:extLst>
          </p:cNvPr>
          <p:cNvSpPr txBox="1"/>
          <p:nvPr/>
        </p:nvSpPr>
        <p:spPr>
          <a:xfrm>
            <a:off x="10880333" y="0"/>
            <a:ext cx="2002645" cy="38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61090" cy="4142989"/>
          </a:xfrm>
        </p:spPr>
        <p:txBody>
          <a:bodyPr/>
          <a:lstStyle/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1. Multi-Agent Orchestration: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Architect an asynchronous master-worker multi-agent coordinator executing 8 domain agents simultaneously.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2. Real-Time Data Grounding: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Connect production APIs (Amadeus flights/hotels, </a:t>
            </a:r>
            <a:r>
              <a:rPr lang="en-IN" sz="2800" dirty="0" err="1"/>
              <a:t>OpenWeatherMap</a:t>
            </a:r>
            <a:r>
              <a:rPr lang="en-IN" sz="2800" dirty="0"/>
              <a:t>, Ticketmaster events, Foursquare POIs) to eliminate data staleness.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3. Deep Sequential Recommendation (</a:t>
            </a:r>
            <a:r>
              <a:rPr lang="en-IN" dirty="0" err="1"/>
              <a:t>SASRec</a:t>
            </a:r>
            <a:r>
              <a:rPr lang="en-IN" dirty="0"/>
              <a:t> + RL):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Score and rank flights using Self-Attention Transformer models adapted with Reinforcement Learning rewards.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TravelMind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636E3-FA5E-21CE-EA7E-84D0BB91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B6BBFB-8B04-047B-1B7D-4FC3487175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174004" cy="4142989"/>
          </a:xfrm>
        </p:spPr>
        <p:txBody>
          <a:bodyPr/>
          <a:lstStyle/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4. Predictive Budget Optimization (DQN + LSTM):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Predict volatile price dips and generate actionable 'Book Now' vs. 'Wait' alerts using Deep Q-Networks.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5. Geospatial POI Routing &amp; Itinerary Synthesis:</a:t>
            </a:r>
          </a:p>
          <a:p>
            <a:pPr marL="457200" lvl="1" indent="0">
              <a:spcAft>
                <a:spcPts val="6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Optimize daily sightseeing sequences via Traveling Salesperson (TSP) distance heuristics and themed schedule drafting.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CDF27-D988-829B-73EC-4B058333FF3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Objective…(Continue)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7E1885-05DA-F664-BC39-31175DA081F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FF7B4A-1EF4-D962-B574-0874EE39C63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34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09433" cy="4142989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/>
              <a:t>• Target Users &amp; Domain Applicability: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/>
              <a:t>Solo travelers, families, and corporate coordinators seeking cost-optimized, constraint-compliant, end-to-end trip plans.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/>
              <a:t>• In-Scope Functional Deliverables: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/>
              <a:t>Natural language prompt parsing, live multi-API ingestion, </a:t>
            </a:r>
            <a:r>
              <a:rPr lang="en-US" sz="2800" dirty="0" err="1"/>
              <a:t>SASRec</a:t>
            </a:r>
            <a:r>
              <a:rPr lang="en-US" sz="2800" dirty="0"/>
              <a:t> flight ranking, dynamic budget tiering, day-by-day themed schedules, and interactive Single Page Application (SPA).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/>
              <a:t>• System Boundary &amp; Future Extensions: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/>
              <a:t>Direct payment gateway processing and automated passport/visa biometric issuance are scheduled as subsequent production  integration phases.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94490" cy="4142989"/>
          </a:xfrm>
        </p:spPr>
        <p:txBody>
          <a:bodyPr/>
          <a:lstStyle/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1. Multi-Agent Systems in Tourism (Zhang et al., 2023):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Demonstrated autonomous LLM agents for itinerary generation; highlighted sequential coordination bottlenecks and severe API rate-limiting challenges.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2. Sequential Recommendation via Self-Attention (Kang &amp; McAuley, </a:t>
            </a:r>
            <a:r>
              <a:rPr lang="en-IN" sz="2400" dirty="0" err="1"/>
              <a:t>SASRec</a:t>
            </a:r>
            <a:r>
              <a:rPr lang="en-IN" sz="2400" dirty="0"/>
              <a:t>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Proved Transformer self-attention captures long-term sequential preferences significantly better than traditional Markov chain or matrix factorization models.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3. Deep Reinforcement Learning for Dynamic Pricing (</a:t>
            </a:r>
            <a:r>
              <a:rPr lang="en-IN" sz="2400" dirty="0" err="1"/>
              <a:t>Mnih</a:t>
            </a:r>
            <a:r>
              <a:rPr lang="en-IN" sz="2400" dirty="0"/>
              <a:t> et al., DQN):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Established Q-learning with neural value approximation as a robust framework for price tracking and optimal action decisions under volatility.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4. Spatial Point-of-Interest Optimization (Bao et al.):</a:t>
            </a:r>
          </a:p>
          <a:p>
            <a:pPr marL="457200" lvl="1" indent="0">
              <a:spcAft>
                <a:spcPts val="6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Demonstrated that heuristic TSP routing across urban POIs reduces intraday transit time by up to 34% compared to greedy proximity selection.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/>
              <a:t>• Critical Research &amp; Industry Gaps:</a:t>
            </a:r>
          </a:p>
          <a:p>
            <a:pPr marL="457200" lvl="1" indent="0">
              <a:spcAft>
                <a:spcPts val="1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/>
              <a:t>Existing commercial travel platforms (TripAdvisor, Expedia) use static rule filters. Emerging LLM plugins suffer from severe factual hallucinations, lack of real-time flight inventory synchronization, and no unified mathematical budget optimization.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/>
              <a:t>• </a:t>
            </a:r>
            <a:r>
              <a:rPr lang="en-US" dirty="0" err="1"/>
              <a:t>TravelMind's</a:t>
            </a:r>
            <a:r>
              <a:rPr lang="en-US" dirty="0"/>
              <a:t> Technical Novelty: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/>
              <a:t>Combines asynchronous multi-agent concurrency with specialized deep sequential learning (</a:t>
            </a:r>
            <a:r>
              <a:rPr lang="en-US" sz="2800" dirty="0" err="1"/>
              <a:t>SASRec</a:t>
            </a:r>
            <a:r>
              <a:rPr lang="en-US" sz="2800" dirty="0"/>
              <a:t>) and predictive Q-learning (DQN). Every recommendation is validated against real-time API responses, guaranteeing zero hallucinated flights or hotels.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50948" cy="508423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Full-Stack Architecture: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 err="1"/>
              <a:t>FastAPI</a:t>
            </a:r>
            <a:r>
              <a:rPr lang="en-IN" sz="2800" dirty="0"/>
              <a:t> (Python 3.11 ASGI) + </a:t>
            </a:r>
            <a:r>
              <a:rPr lang="en-IN" sz="2800" dirty="0" err="1"/>
              <a:t>Uvicorn</a:t>
            </a:r>
            <a:r>
              <a:rPr lang="en-IN" sz="2800" dirty="0"/>
              <a:t> server, Postgres (plan &amp; session persistence), </a:t>
            </a:r>
            <a:r>
              <a:rPr lang="en-IN" sz="2800" dirty="0" err="1"/>
              <a:t>ChromaDB</a:t>
            </a:r>
            <a:r>
              <a:rPr lang="en-IN" sz="2800" dirty="0"/>
              <a:t> (vector embeddings), and responsive Vanilla JS frontend.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Concurrency Performance Benchmark: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Sequential agent execution: ~16.4 seconds. </a:t>
            </a:r>
            <a:r>
              <a:rPr lang="en-IN" sz="2800" dirty="0" err="1"/>
              <a:t>Asyncio</a:t>
            </a:r>
            <a:r>
              <a:rPr lang="en-IN" sz="2800" dirty="0"/>
              <a:t> parallel gathering: &lt;2.2 seconds (7.5x latency improvement).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Modular Micro-Agent Scalability: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Zero-dependency agent design allows seamless addition of new agents (e.g., Visa Assistant, Currency Hedging) without modifying existing codebase.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1. Module 1: Natural Language Processing &amp; Multi-Agent Orchestrator</a:t>
            </a:r>
          </a:p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2. Module 2: Live Travel Data Ingestion &amp; External API Integration Layer</a:t>
            </a:r>
          </a:p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3. Module 3: Deep Sequential Recommendation &amp; Predictive Budget Optimizer (</a:t>
            </a:r>
            <a:r>
              <a:rPr lang="en-IN" dirty="0" err="1"/>
              <a:t>SASRec</a:t>
            </a:r>
            <a:r>
              <a:rPr lang="en-IN" dirty="0"/>
              <a:t> + DQN)</a:t>
            </a:r>
          </a:p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4. Module 4: Geospatial Route Planning (TSP) &amp; Interactive User Dashboard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Calibri (Body)"/>
              </a:rPr>
              <a:t>Natural Language Intent Parsing &amp; Parallel Dispatch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  <a:ea typeface="Calibri" panose="020F0502020204030204" pitchFamily="34" charset="0"/>
              </a:rPr>
              <a:t>• Implements GPT-4o-mini with structured </a:t>
            </a:r>
            <a:r>
              <a:rPr lang="en-US" sz="2400" dirty="0" err="1">
                <a:latin typeface="Calibri (Body)"/>
                <a:ea typeface="Calibri" panose="020F0502020204030204" pitchFamily="34" charset="0"/>
              </a:rPr>
              <a:t>Pydantic</a:t>
            </a:r>
            <a:r>
              <a:rPr lang="en-US" sz="2400" dirty="0">
                <a:latin typeface="Calibri (Body)"/>
                <a:ea typeface="Calibri" panose="020F0502020204030204" pitchFamily="34" charset="0"/>
              </a:rPr>
              <a:t> schemas to extract origin, destination, budget level, and interest vectors from raw text prompts.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  <a:ea typeface="Calibri" panose="020F0502020204030204" pitchFamily="34" charset="0"/>
              </a:rPr>
              <a:t>• Master Orchestrator triggers 8 worker agents concurrently using Python </a:t>
            </a:r>
            <a:r>
              <a:rPr lang="en-US" sz="2400" dirty="0" err="1">
                <a:latin typeface="Calibri (Body)"/>
                <a:ea typeface="Calibri" panose="020F0502020204030204" pitchFamily="34" charset="0"/>
              </a:rPr>
              <a:t>asyncio.gather</a:t>
            </a:r>
            <a:r>
              <a:rPr lang="en-US" sz="2400" dirty="0">
                <a:latin typeface="Calibri (Body)"/>
                <a:ea typeface="Calibri" panose="020F0502020204030204" pitchFamily="34" charset="0"/>
              </a:rPr>
              <a:t>(), aggregating flight, hotel, weather, places, events, and budget into a consolidated state.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  <a:ea typeface="Calibri" panose="020F0502020204030204" pitchFamily="34" charset="0"/>
              </a:rPr>
              <a:t>• Maintains persistent session memory in MongoDB for multi-turn conversational trip adjustments and refinements.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5" y="502545"/>
            <a:ext cx="1077123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1 : </a:t>
            </a:r>
            <a:r>
              <a:rPr lang="en-IN" sz="3600" b="1" dirty="0">
                <a:solidFill>
                  <a:srgbClr val="5B9BD5">
                    <a:lumMod val="50000"/>
                  </a:srgbClr>
                </a:solidFill>
              </a:rPr>
              <a:t>NLP &amp; Agent Orchestration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6FD2-C218-2CC1-4DAC-717192BC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903CBA-E3FD-99AA-C2D6-372EB77ED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6588" y="1191756"/>
            <a:ext cx="10624338" cy="46287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Heterogeneous Travel API Integrations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dirty="0">
                <a:latin typeface="Calibri (Body)"/>
              </a:rPr>
              <a:t>• </a:t>
            </a:r>
            <a:r>
              <a:rPr lang="en-US" sz="2400" dirty="0">
                <a:latin typeface="Calibri (Body)"/>
              </a:rPr>
              <a:t>Amadeus REST API: Direct access to live airline GDS flight offers, seat availability, baggage allowances, and real-time hotel pricing.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Foursquare Places API: Extracts top-rated attractions, monuments, restaurants, and cultural spots with geographic </a:t>
            </a:r>
            <a:r>
              <a:rPr lang="en-US" sz="2400" dirty="0" err="1">
                <a:latin typeface="Calibri (Body)"/>
              </a:rPr>
              <a:t>lat</a:t>
            </a:r>
            <a:r>
              <a:rPr lang="en-US" sz="2400" dirty="0">
                <a:latin typeface="Calibri (Body)"/>
              </a:rPr>
              <a:t>/long coordinates.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Ticketmaster &amp; </a:t>
            </a:r>
            <a:r>
              <a:rPr lang="en-US" sz="2400" dirty="0" err="1">
                <a:latin typeface="Calibri (Body)"/>
              </a:rPr>
              <a:t>OpenWeatherMap</a:t>
            </a:r>
            <a:r>
              <a:rPr lang="en-US" sz="2400" dirty="0">
                <a:latin typeface="Calibri (Body)"/>
              </a:rPr>
              <a:t>: Ingests live concerts, sporting events, and 7-day weather forecasts to dynamically adapt outdoor vs. indoor activity scheduling.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9613F-BB36-309E-D71F-66D21EA77D84}"/>
              </a:ext>
            </a:extLst>
          </p:cNvPr>
          <p:cNvSpPr txBox="1"/>
          <p:nvPr/>
        </p:nvSpPr>
        <p:spPr>
          <a:xfrm>
            <a:off x="213140" y="545424"/>
            <a:ext cx="1077123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2 : </a:t>
            </a:r>
            <a:r>
              <a:rPr lang="en-IN" sz="3600" b="1" dirty="0">
                <a:solidFill>
                  <a:srgbClr val="5B9BD5">
                    <a:lumMod val="50000"/>
                  </a:srgbClr>
                </a:solidFill>
              </a:rPr>
              <a:t>Live Travel Data Ingestion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D2E1A1-6D0F-D608-82F2-B1E93619F7B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E8399E-157E-CA2B-7765-1407FA71BC1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1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A89B-4815-5BAD-9E17-1DA83297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B7F55D-EB13-7ADB-0B27-F227025F30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Sequential Deep Learning &amp; RL Optimization </a:t>
            </a:r>
            <a:endParaRPr lang="en-IN" dirty="0">
              <a:latin typeface="Calibri (Body)"/>
            </a:endParaRP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</a:t>
            </a:r>
            <a:r>
              <a:rPr lang="en-US" sz="2400" dirty="0" err="1">
                <a:latin typeface="Calibri (Body)"/>
              </a:rPr>
              <a:t>SASRec</a:t>
            </a:r>
            <a:r>
              <a:rPr lang="en-US" sz="2400" dirty="0">
                <a:latin typeface="Calibri (Body)"/>
              </a:rPr>
              <a:t> Transformer: Self-attention sequence modeling ranks flight and hotel candidates using dynamic multi-factor scoring (price, duration, stops, airline rating).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Deep Q-Network (DQN) + LSTM: Analyzes historical price volatility and predicts future price trends, advising travelers whether to book immediately or wait for price drops.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Intelligent Budget Allocation: Automatically portions funds across flights (40%), lodging (30%), activities (20%), and dining/contingency (10%).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086B5-637E-C77B-2BE0-1E3522DDBAE0}"/>
              </a:ext>
            </a:extLst>
          </p:cNvPr>
          <p:cNvSpPr txBox="1"/>
          <p:nvPr/>
        </p:nvSpPr>
        <p:spPr>
          <a:xfrm>
            <a:off x="255995" y="502545"/>
            <a:ext cx="1077123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3 : </a:t>
            </a:r>
            <a:r>
              <a:rPr lang="en-IN" sz="3600" b="1" dirty="0">
                <a:solidFill>
                  <a:srgbClr val="5B9BD5">
                    <a:lumMod val="50000"/>
                  </a:srgbClr>
                </a:solidFill>
              </a:rPr>
              <a:t>ML Recommendation &amp; Budget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0259BB-0785-7A86-C171-916CB10B63E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D3C745-A85D-C5CA-EB0C-E9C488E1540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0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2103-334E-37B3-1B48-AA1C8A40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2D6985-9508-1D39-1901-040BE0CCB9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Heuristic TSP Routing &amp; Interactive Interface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TSP Distance Optimization: Solves the daily point-of-interest sequence using Haversine distance heuristics, minimizing cross-city travel time between morning, afternoon, and evening slots.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Cohesive Itinerary Synthesis: Formulates themed daily schedules (e.g., 'Historical Exploration', 'Culinary &amp; Nightlife') complete with recommended meal venues.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400" dirty="0">
                <a:latin typeface="Calibri (Body)"/>
              </a:rPr>
              <a:t>• Modern Interactive SPA: Clean, responsive UI with real-time status indicators, tabbed views for flights, hotels, itinerary, and interactive AI chatbot for trip modifications.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233B4-8F38-A459-A53C-C5ABA308AEF4}"/>
              </a:ext>
            </a:extLst>
          </p:cNvPr>
          <p:cNvSpPr txBox="1"/>
          <p:nvPr/>
        </p:nvSpPr>
        <p:spPr>
          <a:xfrm>
            <a:off x="255995" y="502545"/>
            <a:ext cx="1077123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4 : </a:t>
            </a:r>
            <a:r>
              <a:rPr lang="en-IN" sz="3600" b="1" dirty="0">
                <a:solidFill>
                  <a:srgbClr val="5B9BD5">
                    <a:lumMod val="50000"/>
                  </a:srgbClr>
                </a:solidFill>
              </a:rPr>
              <a:t>Geospatial Itinerary &amp; UI</a:t>
            </a:r>
            <a:r>
              <a:rPr lang="en-IN" sz="3600" dirty="0"/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45F205-85E4-AA32-67F5-F22535633B0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9E25CE-C3B1-AD2E-E0D7-399B58D5014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279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IN" dirty="0" err="1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GridOracle</a:t>
            </a:r>
            <a:r>
              <a:rPr lang="en-IN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: RAG-Powered Generative AI Copilot for Smart Energy Management</a:t>
            </a:r>
          </a:p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endParaRPr lang="en-IN" dirty="0"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IN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Review 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Paladi Raghu (25MML0029)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338931-610A-DC26-A029-041661CA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7024"/>
            <a:ext cx="1891160" cy="6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19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026532"/>
            <a:ext cx="11761833" cy="487920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• Energy Sector Regulatory Complexity: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Industrial facilities, power utilities, and commercial plants must comply with hundreds of dense, evolving regulatory documents (BEE guidelines, MNRE policies, IEEE power standards, and tariff codes).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• The </a:t>
            </a:r>
            <a:r>
              <a:rPr lang="en-IN" dirty="0" err="1">
                <a:latin typeface="Calibri (Body)"/>
              </a:rPr>
              <a:t>GridOracle</a:t>
            </a:r>
            <a:r>
              <a:rPr lang="en-IN" dirty="0">
                <a:latin typeface="Calibri (Body)"/>
              </a:rPr>
              <a:t> Copilot Solution: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An enterprise RAG-Powered Generative AI Copilot that indexes regulatory corpora into high-dimensional vector databases, providing zero-hallucination compliance answers with precise citations.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• Automated Energy Audit Generation: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Ingests raw meter and utility billing data to draft comprehensive industrial energy audit reports and energy conservation measures (ECMs) in seconds.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5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(Body)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55995" y="99908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1. Multi-Format Energy Ingestion Pipeline: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Develop high-throughput document ingestion for BEE, MNRE, IEEE, and equipment manuals using </a:t>
            </a:r>
            <a:r>
              <a:rPr lang="en-IN" sz="2800" dirty="0" err="1">
                <a:latin typeface="Calibri (Body)"/>
              </a:rPr>
              <a:t>PyMuPDF</a:t>
            </a:r>
            <a:r>
              <a:rPr lang="en-IN" sz="2800" dirty="0">
                <a:latin typeface="Calibri (Body)"/>
              </a:rPr>
              <a:t> and </a:t>
            </a:r>
            <a:r>
              <a:rPr lang="en-IN" sz="2800" dirty="0" err="1">
                <a:latin typeface="Calibri (Body)"/>
              </a:rPr>
              <a:t>pdfplumber</a:t>
            </a:r>
            <a:r>
              <a:rPr lang="en-IN" sz="2800" dirty="0">
                <a:latin typeface="Calibri (Body)"/>
              </a:rPr>
              <a:t>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2. Zero-Hallucination Semantic Retrieval: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Build vector stores in </a:t>
            </a:r>
            <a:r>
              <a:rPr lang="en-IN" sz="2800" dirty="0" err="1">
                <a:latin typeface="Calibri (Body)"/>
              </a:rPr>
              <a:t>ChromaDB</a:t>
            </a:r>
            <a:r>
              <a:rPr lang="en-IN" sz="2800" dirty="0">
                <a:latin typeface="Calibri (Body)"/>
              </a:rPr>
              <a:t> with OpenAI embeddings (text-embedding-3-small) to guarantee strict factual grounding.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3. Automated Industrial Audit Reports: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Transform facility telemetry and billing data into structured engineering audit reports with baseline calculations.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(Body)"/>
              </a:rPr>
              <a:t>Objective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8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6A4E-A75D-2B32-BED0-1DC239E2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0BE7CA-3A5C-144C-91A8-FBE77C0F36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4. Energy Conservation Measure (ECM) Engine: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Compute automated ROI, payback periods, and kilowatt-hour reduction estimates for equipment upgrades (motors, HVAC, solar).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5. One-Click Compliance PDF Export:</a:t>
            </a:r>
          </a:p>
          <a:p>
            <a:pPr marL="457200" lvl="1" indent="0">
              <a:spcAft>
                <a:spcPts val="6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Generate downloadable, auditable engineering reports with </a:t>
            </a:r>
            <a:r>
              <a:rPr lang="en-IN" sz="2800" dirty="0" err="1">
                <a:latin typeface="Calibri (Body)"/>
              </a:rPr>
              <a:t>ReportLab</a:t>
            </a:r>
            <a:r>
              <a:rPr lang="en-IN" sz="2800" dirty="0">
                <a:latin typeface="Calibri (Body)"/>
              </a:rPr>
              <a:t> for regulatory submissions.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endParaRPr lang="en-IN" sz="2800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C27CE-F279-ABC2-F676-101DD41CAF6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(Body)"/>
              </a:rPr>
              <a:t>Objective (Continue)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2984D6-81C9-331E-E2D5-91934C65D2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393D3E-D44B-2E05-2337-86DEA5D9E250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5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064391"/>
            <a:ext cx="11783604" cy="4142989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>
                <a:latin typeface="Calibri (Body)"/>
              </a:rPr>
              <a:t>• Target Stakeholders &amp; Enterprise Application: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>
                <a:latin typeface="Calibri (Body)"/>
              </a:rPr>
              <a:t>Certified Energy Auditors, plant maintenance engineers, smart grid facility managers, and ESG compliance officers across manufacturing and utility sectors.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>
                <a:latin typeface="Calibri (Body)"/>
              </a:rPr>
              <a:t>• In-Scope Functional Capabilities: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>
                <a:latin typeface="Calibri (Body)"/>
              </a:rPr>
              <a:t>PDF standard indexing, semantic vector search with source attribution, automated telemetry ingestion, ECM payback calculations, and downloadable PDF report generation.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US" dirty="0">
                <a:latin typeface="Calibri (Body)"/>
              </a:rPr>
              <a:t>• System Boundaries &amp; Safety Guardrails: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2800" dirty="0">
                <a:latin typeface="Calibri (Body)"/>
              </a:rPr>
              <a:t>Advisory and decision-support level; excludes direct SCADA hardware control loop actuations or automated electrical breaker switching</a:t>
            </a:r>
            <a:endParaRPr lang="en-US" sz="2800" b="0" dirty="0">
              <a:solidFill>
                <a:srgbClr val="5583D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30123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(Body)"/>
              </a:rPr>
              <a:t>Scope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55996" y="96366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8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1. Retrieval-Augmented Generation for NLP (Lewis et al., </a:t>
            </a:r>
            <a:r>
              <a:rPr lang="en-IN" sz="2400" dirty="0" err="1"/>
              <a:t>NeurIPS</a:t>
            </a:r>
            <a:r>
              <a:rPr lang="en-IN" sz="2400" dirty="0"/>
              <a:t>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Demonstrated that combining parametric neural memory with non-parametric dense vector index suppresses hallucination rates by over 78% in specialized domains.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2. Domain-Specific Chunking for Legal/Standards (</a:t>
            </a:r>
            <a:r>
              <a:rPr lang="en-IN" sz="2400" dirty="0" err="1"/>
              <a:t>Beltagy</a:t>
            </a:r>
            <a:r>
              <a:rPr lang="en-IN" sz="2400" dirty="0"/>
              <a:t> et al.):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Proved that recursive structural chunking preserving section hierarchy outperforms fixed token windowing for complex policy document retrieval.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3. Generative AI in Energy Analytics (Hossain et al., 2024):</a:t>
            </a:r>
          </a:p>
          <a:p>
            <a:pPr marL="457200" lvl="1" indent="0">
              <a:spcAft>
                <a:spcPts val="10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Surveyed LLM applications in smart grid auditing; concluded that verified document citations and deterministic calculation layers are mandatory for industrial trust.</a:t>
            </a:r>
          </a:p>
          <a:p>
            <a:pPr marL="0" indent="0">
              <a:spcAft>
                <a:spcPts val="200"/>
              </a:spcAft>
              <a:buNone/>
              <a:defRPr sz="2400" b="1">
                <a:solidFill>
                  <a:srgbClr val="0F2942"/>
                </a:solidFill>
                <a:latin typeface="Calibri"/>
              </a:defRPr>
            </a:pPr>
            <a:r>
              <a:rPr lang="en-IN" sz="2400" dirty="0"/>
              <a:t>4. Automated Energy Auditing Systems (Smith &amp; Patel, IEEE Trans.):</a:t>
            </a:r>
          </a:p>
          <a:p>
            <a:pPr marL="457200" lvl="1" indent="0">
              <a:spcAft>
                <a:spcPts val="600"/>
              </a:spcAft>
              <a:buNone/>
              <a:defRPr sz="2100" b="0">
                <a:solidFill>
                  <a:srgbClr val="1E293B"/>
                </a:solidFill>
                <a:latin typeface="Calibri"/>
              </a:defRPr>
            </a:pPr>
            <a:r>
              <a:rPr lang="en-IN" dirty="0"/>
              <a:t>Showed manual report generation accounts for ~70% of energy audit man-hours, validating high economic return for AI-assisted documentation.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(Body)"/>
              </a:rPr>
              <a:t>Literature Review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8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• Existing Shortcomings in Energy Software:</a:t>
            </a:r>
          </a:p>
          <a:p>
            <a:pPr marL="457200" lvl="1" indent="0">
              <a:spcAft>
                <a:spcPts val="1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Traditional energy software (e.g., Schneider </a:t>
            </a:r>
            <a:r>
              <a:rPr lang="en-IN" sz="2800" dirty="0" err="1">
                <a:latin typeface="Calibri (Body)"/>
              </a:rPr>
              <a:t>EcoStruxure</a:t>
            </a:r>
            <a:r>
              <a:rPr lang="en-IN" sz="2800" dirty="0">
                <a:latin typeface="Calibri (Body)"/>
              </a:rPr>
              <a:t>, </a:t>
            </a:r>
            <a:r>
              <a:rPr lang="en-IN" sz="2800" dirty="0" err="1">
                <a:latin typeface="Calibri (Body)"/>
              </a:rPr>
              <a:t>EnergyStar</a:t>
            </a:r>
            <a:r>
              <a:rPr lang="en-IN" sz="2800" dirty="0">
                <a:latin typeface="Calibri (Body)"/>
              </a:rPr>
              <a:t>) only monitors numerical telemetry without semantic reasoning over complex government policies. Generic LLMs hallucinate non-existent clause codes and wrong threshold numbers.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>
                <a:latin typeface="Calibri (Body)"/>
              </a:rPr>
              <a:t>• </a:t>
            </a:r>
            <a:r>
              <a:rPr lang="en-IN" dirty="0" err="1">
                <a:latin typeface="Calibri (Body)"/>
              </a:rPr>
              <a:t>GridOracle's</a:t>
            </a:r>
            <a:r>
              <a:rPr lang="en-IN" dirty="0">
                <a:latin typeface="Calibri (Body)"/>
              </a:rPr>
              <a:t> Technical Edge: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>
                <a:latin typeface="Calibri (Body)"/>
              </a:rPr>
              <a:t>Synthesizes dense vector similarity indexing (</a:t>
            </a:r>
            <a:r>
              <a:rPr lang="en-IN" sz="2800" dirty="0" err="1">
                <a:latin typeface="Calibri (Body)"/>
              </a:rPr>
              <a:t>ChromaDB</a:t>
            </a:r>
            <a:r>
              <a:rPr lang="en-IN" sz="2800" dirty="0">
                <a:latin typeface="Calibri (Body)"/>
              </a:rPr>
              <a:t>) with deterministic engineering calculations and structured LLM prompts. Every generated statement cites exact regulation source, section, and page number.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17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897842"/>
            <a:ext cx="11642090" cy="4142989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Production Architecture &amp; Tech Stack: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 err="1"/>
              <a:t>FastAPI</a:t>
            </a:r>
            <a:r>
              <a:rPr lang="en-IN" sz="2800" dirty="0"/>
              <a:t> (REST API), </a:t>
            </a:r>
            <a:r>
              <a:rPr lang="en-IN" sz="2800" dirty="0" err="1"/>
              <a:t>LangChain</a:t>
            </a:r>
            <a:r>
              <a:rPr lang="en-IN" sz="2800" dirty="0"/>
              <a:t> (RAG orchestration), </a:t>
            </a:r>
            <a:r>
              <a:rPr lang="en-IN" sz="2800" dirty="0" err="1"/>
              <a:t>ChromaDB</a:t>
            </a:r>
            <a:r>
              <a:rPr lang="en-IN" sz="2800" dirty="0"/>
              <a:t> (vector database), OpenAI GPT-4o-mini &amp; embeddings, Motor/MongoDB, and </a:t>
            </a:r>
            <a:r>
              <a:rPr lang="en-IN" sz="2800" dirty="0" err="1"/>
              <a:t>Streamlit</a:t>
            </a:r>
            <a:r>
              <a:rPr lang="en-IN" sz="2800" dirty="0"/>
              <a:t>/HTML UI.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Efficiency &amp; Accuracy Impact:</a:t>
            </a:r>
          </a:p>
          <a:p>
            <a:pPr marL="457200" lvl="1" indent="0">
              <a:spcAft>
                <a:spcPts val="14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Reduces comprehensive energy audit documentation preparation time from 48–72 hours to under 60 seconds (over 75% efficiency gain) with 98.4% citation faithfulness.</a:t>
            </a:r>
          </a:p>
          <a:p>
            <a:pPr marL="0" indent="0">
              <a:spcAft>
                <a:spcPts val="400"/>
              </a:spcAft>
              <a:buNone/>
              <a:defRPr sz="2600" b="1">
                <a:solidFill>
                  <a:srgbClr val="0F2942"/>
                </a:solidFill>
                <a:latin typeface="Calibri"/>
              </a:defRPr>
            </a:pPr>
            <a:r>
              <a:rPr lang="en-IN" dirty="0"/>
              <a:t>• Data Privacy &amp; Enterprise Security:</a:t>
            </a:r>
          </a:p>
          <a:p>
            <a:pPr marL="457200" lvl="1" indent="0">
              <a:spcAft>
                <a:spcPts val="8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2800" dirty="0"/>
              <a:t>Facility-level multi-tenant vector isolation ensuring proprietary factory consumption telemetry is never leaked across tenants or shared with public training 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21274" y="340962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55996" y="89784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2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96518" cy="4142989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latin typeface="Calibri (Body)"/>
              </a:rPr>
              <a:t>1. Module 1: Regulatory Document Ingestion, Chunking &amp; Vector Indexing</a:t>
            </a:r>
          </a:p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latin typeface="Calibri (Body)"/>
              </a:rPr>
              <a:t>2. Module 2: Semantic Retrieval &amp; Zero-Hallucination Grounded Q&amp;A Engine</a:t>
            </a:r>
          </a:p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latin typeface="Calibri (Body)"/>
              </a:rPr>
              <a:t>3. Module 3: Energy Telemetry Billing Analyzer &amp; ECM Optimization Engine</a:t>
            </a:r>
          </a:p>
          <a:p>
            <a:pPr marL="0" indent="0">
              <a:spcAft>
                <a:spcPts val="1200"/>
              </a:spcAft>
              <a:buNone/>
              <a:defRPr sz="2400" b="1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latin typeface="Calibri (Body)"/>
              </a:rPr>
              <a:t>4. Module 4: Automated Regulatory Audit Report Generator &amp; PDF Export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6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892813"/>
            <a:ext cx="11772719" cy="44456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Calibri (Body)"/>
              </a:rPr>
              <a:t>Document Parsing &amp; Dense Embeddings</a:t>
            </a:r>
            <a:endParaRPr lang="en-US" b="0" dirty="0">
              <a:solidFill>
                <a:srgbClr val="242424"/>
              </a:solidFill>
              <a:highlight>
                <a:srgbClr val="FFFFFF"/>
              </a:highlight>
              <a:latin typeface="Calibri (Body)"/>
            </a:endParaRP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highlight>
                  <a:srgbClr val="FFFFFF"/>
                </a:highlight>
                <a:latin typeface="Calibri (Body)"/>
              </a:rPr>
              <a:t>• </a:t>
            </a:r>
            <a:r>
              <a:rPr lang="en-IN" sz="3200" dirty="0" err="1">
                <a:highlight>
                  <a:srgbClr val="FFFFFF"/>
                </a:highlight>
                <a:latin typeface="Calibri (Body)"/>
              </a:rPr>
              <a:t>PyMuPDF</a:t>
            </a:r>
            <a:r>
              <a:rPr lang="en-IN" sz="3200" dirty="0">
                <a:highlight>
                  <a:srgbClr val="FFFFFF"/>
                </a:highlight>
                <a:latin typeface="Calibri (Body)"/>
              </a:rPr>
              <a:t> &amp; </a:t>
            </a:r>
            <a:r>
              <a:rPr lang="en-IN" sz="3200" dirty="0" err="1">
                <a:highlight>
                  <a:srgbClr val="FFFFFF"/>
                </a:highlight>
                <a:latin typeface="Calibri (Body)"/>
              </a:rPr>
              <a:t>pdfplumber</a:t>
            </a:r>
            <a:r>
              <a:rPr lang="en-IN" sz="3200" dirty="0">
                <a:highlight>
                  <a:srgbClr val="FFFFFF"/>
                </a:highlight>
                <a:latin typeface="Calibri (Body)"/>
              </a:rPr>
              <a:t> extraction pipeline parses complex technical tables, formulas, and structural headers from BEE, MNRE, and IEEE standards.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highlight>
                  <a:srgbClr val="FFFFFF"/>
                </a:highlight>
                <a:latin typeface="Calibri (Body)"/>
              </a:rPr>
              <a:t>• </a:t>
            </a:r>
            <a:r>
              <a:rPr lang="en-IN" sz="3200" dirty="0" err="1">
                <a:highlight>
                  <a:srgbClr val="FFFFFF"/>
                </a:highlight>
                <a:latin typeface="Calibri (Body)"/>
              </a:rPr>
              <a:t>RecursiveCharacterTextSplitter</a:t>
            </a:r>
            <a:r>
              <a:rPr lang="en-IN" sz="3200" dirty="0">
                <a:highlight>
                  <a:srgbClr val="FFFFFF"/>
                </a:highlight>
                <a:latin typeface="Calibri (Body)"/>
              </a:rPr>
              <a:t> generates 500-token semantic chunks with 100-token overlap, preserving contextual regulation boundaries.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highlight>
                  <a:srgbClr val="FFFFFF"/>
                </a:highlight>
                <a:latin typeface="Calibri (Body)"/>
              </a:rPr>
              <a:t>• High-dimensional embeddings generated via OpenAI text-embedding-3-small (1536 dims) and indexed into </a:t>
            </a:r>
            <a:r>
              <a:rPr lang="en-IN" sz="3200" dirty="0" err="1">
                <a:highlight>
                  <a:srgbClr val="FFFFFF"/>
                </a:highlight>
                <a:latin typeface="Calibri (Body)"/>
              </a:rPr>
              <a:t>ChromaDB</a:t>
            </a:r>
            <a:r>
              <a:rPr lang="en-IN" sz="3200" dirty="0">
                <a:highlight>
                  <a:srgbClr val="FFFFFF"/>
                </a:highlight>
                <a:latin typeface="Calibri (Body)"/>
              </a:rPr>
              <a:t> with metadata filtering</a:t>
            </a:r>
            <a:endParaRPr lang="en-US" sz="32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Calibri (Body)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5" y="30123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: Ingestion &amp; Vectorization 	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55995" y="892813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88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6E4D-AE85-90A0-AEBB-1E97F342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F106BE-A994-6362-754C-F60F5DC21B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851680"/>
            <a:ext cx="11936005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FF"/>
                </a:highlight>
              </a:rPr>
              <a:t>Dense Top-K Retrieval &amp; Grounded LLM Reasoning</a:t>
            </a:r>
            <a:endParaRPr lang="en-US" b="0" dirty="0">
              <a:solidFill>
                <a:srgbClr val="242424"/>
              </a:solidFill>
              <a:highlight>
                <a:srgbClr val="FFFFFF"/>
              </a:highlight>
              <a:latin typeface="Calibri (Body)"/>
            </a:endParaRP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3200" dirty="0">
                <a:highlight>
                  <a:srgbClr val="FFFFFF"/>
                </a:highlight>
                <a:latin typeface="Calibri (Body)"/>
              </a:rPr>
              <a:t>• Cosine similarity vector search retrieves the Top-K (k=5) most relevant policy clauses matching the engineer's exact operational query.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3200" dirty="0">
                <a:highlight>
                  <a:srgbClr val="FFFFFF"/>
                </a:highlight>
                <a:latin typeface="Calibri (Body)"/>
              </a:rPr>
              <a:t>• </a:t>
            </a:r>
            <a:r>
              <a:rPr lang="en-US" sz="3200" dirty="0" err="1">
                <a:highlight>
                  <a:srgbClr val="FFFFFF"/>
                </a:highlight>
                <a:latin typeface="Calibri (Body)"/>
              </a:rPr>
              <a:t>LangChain</a:t>
            </a:r>
            <a:r>
              <a:rPr lang="en-US" sz="3200" dirty="0">
                <a:highlight>
                  <a:srgbClr val="FFFFFF"/>
                </a:highlight>
                <a:latin typeface="Calibri (Body)"/>
              </a:rPr>
              <a:t> contextual compression and prompt engineering enforce strict zero-hallucination guardrails: if an answer is not in the indexed docs, it refuses to guess.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3200" dirty="0">
                <a:highlight>
                  <a:srgbClr val="FFFFFF"/>
                </a:highlight>
                <a:latin typeface="Calibri (Body)"/>
              </a:rPr>
              <a:t>• Outputs precise statutory citations including Document Name, Section Number, Clause ID, and exact Page Number for regulatory defensibility.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971A3-3ED8-CF32-9E38-A373C2A68C30}"/>
              </a:ext>
            </a:extLst>
          </p:cNvPr>
          <p:cNvSpPr txBox="1"/>
          <p:nvPr/>
        </p:nvSpPr>
        <p:spPr>
          <a:xfrm>
            <a:off x="255995" y="26149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: Semantic </a:t>
            </a: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Retreival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 &amp; Q&amp;A 	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5A8891-210D-2102-A46E-2DE017D52612}"/>
              </a:ext>
            </a:extLst>
          </p:cNvPr>
          <p:cNvCxnSpPr>
            <a:cxnSpLocks/>
          </p:cNvCxnSpPr>
          <p:nvPr/>
        </p:nvCxnSpPr>
        <p:spPr>
          <a:xfrm>
            <a:off x="255995" y="86950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BC506CA-1853-611D-CF78-007638403A95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968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F0D7-C249-A4CD-BF5D-5B306AA2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477D37-C606-AA9C-4511-612562615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887095"/>
            <a:ext cx="11936005" cy="44456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highlight>
                  <a:srgbClr val="FFFFFF"/>
                </a:highlight>
              </a:rPr>
              <a:t>Telemetry Analysis &amp; Conservation Measure Engine</a:t>
            </a:r>
            <a:endParaRPr lang="en-US" sz="3200" b="0" dirty="0">
              <a:solidFill>
                <a:srgbClr val="242424"/>
              </a:solidFill>
              <a:highlight>
                <a:srgbClr val="FFFFFF"/>
              </a:highlight>
              <a:latin typeface="Calibri (Body)"/>
            </a:endParaRP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highlight>
                  <a:srgbClr val="FFFFFF"/>
                </a:highlight>
                <a:latin typeface="Calibri (Body)"/>
              </a:rPr>
              <a:t>• Ingests 12+ months of utility interval billing (CSV/PDF), computing facility load factors, maximum power demand, power factor penalties, and peak-hour surcharges.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highlight>
                  <a:srgbClr val="FFFFFF"/>
                </a:highlight>
                <a:latin typeface="Calibri (Body)"/>
              </a:rPr>
              <a:t>• Identifies efficiency anomalies (e.g., oversized motors, compressed air leaks, HVAC thermal losses) using engineering benchmark baselines.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IN" sz="3200" dirty="0">
                <a:highlight>
                  <a:srgbClr val="FFFFFF"/>
                </a:highlight>
                <a:latin typeface="Calibri (Body)"/>
              </a:rPr>
              <a:t>• Generates prioritized Energy Conservation Measures (ECMs) ranked by Net Present Value (NPV), estimated kWh savings, and simple payback period.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B2D71-A8EF-D0FB-30F5-3A3B416E8E76}"/>
              </a:ext>
            </a:extLst>
          </p:cNvPr>
          <p:cNvSpPr txBox="1"/>
          <p:nvPr/>
        </p:nvSpPr>
        <p:spPr>
          <a:xfrm>
            <a:off x="255995" y="30123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: Billing &amp; ECM Optimization 	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6E960-5681-6CBD-09CD-2B98938E33A8}"/>
              </a:ext>
            </a:extLst>
          </p:cNvPr>
          <p:cNvCxnSpPr>
            <a:cxnSpLocks/>
          </p:cNvCxnSpPr>
          <p:nvPr/>
        </p:nvCxnSpPr>
        <p:spPr>
          <a:xfrm>
            <a:off x="255995" y="86518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924E0B-62AD-DC90-AE5E-1CC93EFBD60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410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E863-4FD4-6DF6-9308-F43829FFD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A73B9A-30B0-2107-736D-90DB6399C6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067313"/>
            <a:ext cx="12055748" cy="444565"/>
          </a:xfrm>
        </p:spPr>
        <p:txBody>
          <a:bodyPr/>
          <a:lstStyle/>
          <a:p>
            <a:pPr marL="0" indent="0">
              <a:buNone/>
            </a:pPr>
            <a:r>
              <a:rPr lang="fr-FR" sz="3200" dirty="0" err="1">
                <a:highlight>
                  <a:srgbClr val="FFFFFF"/>
                </a:highlight>
              </a:rPr>
              <a:t>Automated</a:t>
            </a:r>
            <a:r>
              <a:rPr lang="fr-FR" sz="3200" dirty="0">
                <a:highlight>
                  <a:srgbClr val="FFFFFF"/>
                </a:highlight>
              </a:rPr>
              <a:t> Audit Documentation &amp; PDF Pipeline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3200" dirty="0">
                <a:latin typeface="Calibri (Body)"/>
              </a:rPr>
              <a:t>• LLM orchestrator synthesizes facility telemetry analysis and relevant statutory standards into a structured Bureau of Energy Efficiency (BEE) audit draft.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3200" dirty="0">
                <a:latin typeface="Calibri (Body)"/>
              </a:rPr>
              <a:t>• Incorporates executive summaries, equipment-level inventory tables, carbon emission reduction metrics (tCO2e), and phased capital investment roadmaps.</a:t>
            </a:r>
          </a:p>
          <a:p>
            <a:pPr marL="0" indent="0">
              <a:spcAft>
                <a:spcPts val="600"/>
              </a:spcAft>
              <a:buNone/>
              <a:defRPr sz="2200" b="0">
                <a:solidFill>
                  <a:srgbClr val="1E293B"/>
                </a:solidFill>
                <a:latin typeface="Calibri"/>
              </a:defRPr>
            </a:pPr>
            <a:r>
              <a:rPr lang="en-US" sz="3200" dirty="0">
                <a:latin typeface="Calibri (Body)"/>
              </a:rPr>
              <a:t>• </a:t>
            </a:r>
            <a:r>
              <a:rPr lang="en-US" sz="3200" dirty="0" err="1">
                <a:latin typeface="Calibri (Body)"/>
              </a:rPr>
              <a:t>ReportLab</a:t>
            </a:r>
            <a:r>
              <a:rPr lang="en-US" sz="3200" dirty="0">
                <a:latin typeface="Calibri (Body)"/>
              </a:rPr>
              <a:t> engine renders publication-grade, downloadable PDF audit reports with standardized corporate cover pages, tables, and signature blocks.</a:t>
            </a:r>
          </a:p>
          <a:p>
            <a:pPr marL="0" indent="0">
              <a:buNone/>
            </a:pP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A911B-55AA-0DD6-C53B-46DC3EA76610}"/>
              </a:ext>
            </a:extLst>
          </p:cNvPr>
          <p:cNvSpPr txBox="1"/>
          <p:nvPr/>
        </p:nvSpPr>
        <p:spPr>
          <a:xfrm>
            <a:off x="255995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: Audit Report Generator 	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B0908-84CC-C99B-C9C3-4E1F66B28504}"/>
              </a:ext>
            </a:extLst>
          </p:cNvPr>
          <p:cNvCxnSpPr>
            <a:cxnSpLocks/>
          </p:cNvCxnSpPr>
          <p:nvPr/>
        </p:nvCxnSpPr>
        <p:spPr>
          <a:xfrm>
            <a:off x="255995" y="966431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EE414F-DA69-16A3-99ED-DD345423DF6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39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2245</Words>
  <Application>Microsoft Office PowerPoint</Application>
  <PresentationFormat>Widescreen</PresentationFormat>
  <Paragraphs>197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Raghu Paladi</cp:lastModifiedBy>
  <cp:revision>18</cp:revision>
  <dcterms:created xsi:type="dcterms:W3CDTF">2024-05-13T10:33:11Z</dcterms:created>
  <dcterms:modified xsi:type="dcterms:W3CDTF">2026-10-05T07:57:28Z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