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TravelMind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: A Multi-Agent AI System for Personalized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Travel Planning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Paladi Raghu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25MML0029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544118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Industry Context: </a:t>
            </a:r>
            <a:r>
              <a:rPr lang="en-US" b="0" dirty="0">
                <a:latin typeface="+mn-lt"/>
              </a:rPr>
              <a:t>Vacation planning requires manual coordination across 4-6 fragmented travel platforms.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Core Inefficiency: </a:t>
            </a:r>
            <a:r>
              <a:rPr lang="en-US" b="0" dirty="0">
                <a:latin typeface="+mn-lt"/>
              </a:rPr>
              <a:t>Travelers spend 10+ hours comparing flights, stays, activities, and routes manually.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Existing Barrier: </a:t>
            </a:r>
            <a:r>
              <a:rPr lang="en-US" b="0" dirty="0">
                <a:latin typeface="+mn-lt"/>
              </a:rPr>
              <a:t>Current OTAs act as static search filters without global constraint satisfaction.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TravelMind Solution: </a:t>
            </a:r>
            <a:r>
              <a:rPr lang="en-US" b="0" dirty="0">
                <a:latin typeface="+mn-lt"/>
              </a:rPr>
              <a:t>Autonomous Multi-Agent AI system that synthesizes optimal, personalized day-wise itineraries in seconds.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TravelMind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22347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Personalized Recommendations: </a:t>
            </a:r>
            <a:r>
              <a:rPr lang="en-US" b="0" dirty="0">
                <a:latin typeface="+mn-lt"/>
              </a:rPr>
              <a:t>Deploy Neural Collaborative Filtering (NCF) &amp; SASRec for tailored lodging and flight rankings.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Spatial Route Optimization: </a:t>
            </a:r>
            <a:r>
              <a:rPr lang="en-US" b="0" dirty="0">
                <a:latin typeface="+mn-lt"/>
              </a:rPr>
              <a:t>Apply Graph Neural Networks (GNN) and RL Policy Gradients to solve daily Travelling Salesperson Problems (TSP).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Constraint Enforcement: </a:t>
            </a:r>
            <a:r>
              <a:rPr lang="en-US" b="0" dirty="0">
                <a:latin typeface="+mn-lt"/>
              </a:rPr>
              <a:t>Enforce hard user budgets and temporal weather-risk constraints using LSTM-based volatility scoring.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Semantic Retrieval: Integrate </a:t>
            </a:r>
            <a:r>
              <a:rPr lang="en-US" b="0" dirty="0">
                <a:latin typeface="+mn-lt"/>
              </a:rPr>
              <a:t>ChromaDB vector embeddings for zero-shot natural language query interpretation.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Enterprise Robustness: </a:t>
            </a:r>
            <a:r>
              <a:rPr lang="en-US" b="0" dirty="0">
                <a:latin typeface="+mn-lt"/>
              </a:rPr>
              <a:t>Ensure end-to-end ACID transactional compliance with PostgreSQL and sub-3-second API latency.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940402"/>
            <a:ext cx="11565890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– Multi-Agent Architecture  &amp; Core Modules</a:t>
            </a:r>
          </a:p>
          <a:p>
            <a:r>
              <a:rPr lang="en-US" dirty="0">
                <a:highlight>
                  <a:srgbClr val="FFFFFF"/>
                </a:highlight>
                <a:latin typeface="+mn-lt"/>
              </a:rPr>
              <a:t>Orchestrator Agent: </a:t>
            </a:r>
            <a:r>
              <a:rPr lang="en-US" b="0" dirty="0">
                <a:highlight>
                  <a:srgbClr val="FFFFFF"/>
                </a:highlight>
                <a:latin typeface="+mn-lt"/>
              </a:rPr>
              <a:t>Asynchronously delegates tasks, aggregates sub-agent outputs, and constructs the master schedule.</a:t>
            </a:r>
            <a:endParaRPr lang="en-IN" b="0" dirty="0">
              <a:highlight>
                <a:srgbClr val="FFFFFF"/>
              </a:highlight>
              <a:latin typeface="+mn-lt"/>
            </a:endParaRPr>
          </a:p>
          <a:p>
            <a:pPr lvl="0"/>
            <a:r>
              <a:rPr lang="en-US" dirty="0">
                <a:highlight>
                  <a:srgbClr val="FFFFFF"/>
                </a:highlight>
                <a:latin typeface="+mn-lt"/>
              </a:rPr>
              <a:t>Flight &amp; Hotel Agents: </a:t>
            </a:r>
            <a:r>
              <a:rPr lang="en-US" b="0" dirty="0">
                <a:highlight>
                  <a:srgbClr val="FFFFFF"/>
                </a:highlight>
                <a:latin typeface="+mn-lt"/>
              </a:rPr>
              <a:t>Connects to Amadeus APIs; ranks options with SASRec attention &amp; NCF preference models.</a:t>
            </a:r>
            <a:endParaRPr lang="en-IN" b="0" dirty="0">
              <a:highlight>
                <a:srgbClr val="FFFFFF"/>
              </a:highlight>
              <a:latin typeface="+mn-lt"/>
            </a:endParaRPr>
          </a:p>
          <a:p>
            <a:pPr lvl="0"/>
            <a:r>
              <a:rPr lang="en-US" dirty="0">
                <a:highlight>
                  <a:srgbClr val="FFFFFF"/>
                </a:highlight>
                <a:latin typeface="+mn-lt"/>
              </a:rPr>
              <a:t>Place &amp; Event Agents: </a:t>
            </a:r>
            <a:r>
              <a:rPr lang="en-US" b="0" dirty="0">
                <a:highlight>
                  <a:srgbClr val="FFFFFF"/>
                </a:highlight>
                <a:latin typeface="+mn-lt"/>
              </a:rPr>
              <a:t>Queries ChromaDB vector store; retrieves semantic POIs with 384-d MiniLM embeddings.</a:t>
            </a:r>
            <a:endParaRPr lang="en-IN" b="0" dirty="0">
              <a:highlight>
                <a:srgbClr val="FFFFFF"/>
              </a:highlight>
              <a:latin typeface="+mn-lt"/>
            </a:endParaRPr>
          </a:p>
          <a:p>
            <a:pPr lvl="0"/>
            <a:r>
              <a:rPr lang="en-US" dirty="0">
                <a:highlight>
                  <a:srgbClr val="FFFFFF"/>
                </a:highlight>
                <a:latin typeface="+mn-lt"/>
              </a:rPr>
              <a:t>Routing &amp; Distance Agent: </a:t>
            </a:r>
            <a:r>
              <a:rPr lang="en-US" b="0" dirty="0">
                <a:highlight>
                  <a:srgbClr val="FFFFFF"/>
                </a:highlight>
                <a:latin typeface="+mn-lt"/>
              </a:rPr>
              <a:t>Constructs spatial graphs and executes GNN-based TSP sequence minimization.</a:t>
            </a:r>
            <a:endParaRPr lang="en-IN" b="0" dirty="0">
              <a:highlight>
                <a:srgbClr val="FFFFFF"/>
              </a:highlight>
              <a:latin typeface="+mn-lt"/>
            </a:endParaRPr>
          </a:p>
          <a:p>
            <a:pPr lvl="0"/>
            <a:r>
              <a:rPr lang="en-US" dirty="0">
                <a:highlight>
                  <a:srgbClr val="FFFFFF"/>
                </a:highlight>
                <a:latin typeface="+mn-lt"/>
              </a:rPr>
              <a:t>Weather &amp; Budget Agents: </a:t>
            </a:r>
            <a:r>
              <a:rPr lang="en-US" b="0" dirty="0">
                <a:highlight>
                  <a:srgbClr val="FFFFFF"/>
                </a:highlight>
                <a:latin typeface="+mn-lt"/>
              </a:rPr>
              <a:t>LSTM monitors 5-day meteorological risk; dynamic budgeter enforces category cost limits.</a:t>
            </a:r>
            <a:endParaRPr lang="en-IN" b="0" dirty="0">
              <a:highlight>
                <a:srgbClr val="FFFFFF"/>
              </a:highlight>
              <a:latin typeface="+mn-lt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309778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55996" y="909942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239318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Disjointed Booking Ecosystem: </a:t>
            </a:r>
            <a:r>
              <a:rPr lang="en-US" b="0" dirty="0">
                <a:latin typeface="+mn-lt"/>
              </a:rPr>
              <a:t>Lack of interoperability between transport, hospitality, and local attraction providers.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Combinatorial Complexity: </a:t>
            </a:r>
            <a:r>
              <a:rPr lang="en-US" b="0" dirty="0">
                <a:latin typeface="+mn-lt"/>
              </a:rPr>
              <a:t>Optimizing multi-city transit, budgets, time windows, and attractions is an NP-hard problem.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Static &amp; Generic Results: </a:t>
            </a:r>
            <a:r>
              <a:rPr lang="en-US" b="0" dirty="0">
                <a:latin typeface="+mn-lt"/>
              </a:rPr>
              <a:t>Traditional rule-based engines ignore sequential traveler preferences and dynamic disruptions.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Budget &amp; Weather Vulnerability: </a:t>
            </a:r>
            <a:r>
              <a:rPr lang="en-US" b="0" dirty="0">
                <a:latin typeface="+mn-lt"/>
              </a:rPr>
              <a:t>Unexpected cost overruns and adverse weather frequently ruin static pre-planned schedules.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63861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Async Multi-Agent Orchestration: </a:t>
            </a:r>
            <a:r>
              <a:rPr lang="en-US" b="0" dirty="0">
                <a:latin typeface="+mn-lt"/>
              </a:rPr>
              <a:t>FastAPI ASGI engine executing concurrent sub-agent coroutines to minimize network latency.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Two-Stage Recommendation Pipeline: </a:t>
            </a:r>
            <a:r>
              <a:rPr lang="en-US" b="0" dirty="0">
                <a:latin typeface="+mn-lt"/>
              </a:rPr>
              <a:t>Candidate retrieval via ChromaDB semantic vector search followed by DL re-ranking.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Graph-Based Spatial Modeling: </a:t>
            </a:r>
            <a:r>
              <a:rPr lang="en-US" b="0" dirty="0">
                <a:latin typeface="+mn-lt"/>
              </a:rPr>
              <a:t>Destinations modeled as complete weighted graphs; GNN learns topological edge embeddings</a:t>
            </a:r>
            <a:r>
              <a:rPr lang="en-US" dirty="0">
                <a:latin typeface="+mn-lt"/>
              </a:rPr>
              <a:t>.</a:t>
            </a:r>
            <a:endParaRPr lang="en-IN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Reinforcement Learning Scheduling: </a:t>
            </a:r>
            <a:r>
              <a:rPr lang="en-US" b="0" dirty="0">
                <a:latin typeface="+mn-lt"/>
              </a:rPr>
              <a:t>Policy Gradient agent trains on pairwise distance rewards to generate optimal visitation order.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Relational Data Integrity: </a:t>
            </a:r>
            <a:r>
              <a:rPr lang="en-US" b="0" dirty="0">
                <a:latin typeface="+mn-lt"/>
              </a:rPr>
              <a:t>PostgreSQL database guarantees ACID transactions, relational foreign-keys, and user audit trails.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457033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Deep Learning Models: </a:t>
            </a:r>
            <a:r>
              <a:rPr lang="en-US" b="0" dirty="0">
                <a:latin typeface="+mn-lt"/>
              </a:rPr>
              <a:t>NCF (Collaborative Filtering), SASRec (Self-Attention Sequential), GNN (PyTorch Geometric), LSTM (Weather Risk).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NLP &amp; Vector Embeddings: </a:t>
            </a:r>
            <a:r>
              <a:rPr lang="en-US" b="0" dirty="0">
                <a:latin typeface="+mn-lt"/>
              </a:rPr>
              <a:t>MiniLM 384-dimensional sentence-transformers for POI semantic indexing and query matching.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Database &amp; Persistence: </a:t>
            </a:r>
            <a:r>
              <a:rPr lang="en-US" b="0" dirty="0">
                <a:latin typeface="+mn-lt"/>
              </a:rPr>
              <a:t>PostgreSQL (primary ACID relational database) + ChromaDB (vector similarity search).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External Travel APIs: </a:t>
            </a:r>
            <a:r>
              <a:rPr lang="en-US" b="0" dirty="0">
                <a:latin typeface="+mn-lt"/>
              </a:rPr>
              <a:t>Amadeus Global Travel API, OpenWeatherMap API, Ticketmaster Event Discovery API.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Frameworks &amp; UI Stack: </a:t>
            </a:r>
            <a:r>
              <a:rPr lang="en-US" b="0" dirty="0">
                <a:latin typeface="+mn-lt"/>
              </a:rPr>
              <a:t>Python FastAPI (async backend), PyTorch, NumPy, Modern Glassmorphism UI (HTML5 / Vanilla CSS3 / ES6).</a:t>
            </a:r>
            <a:endParaRPr lang="en-IN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293747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Recommendation Accuracy: </a:t>
            </a:r>
            <a:r>
              <a:rPr lang="en-US" b="0" dirty="0">
                <a:latin typeface="+mn-lt"/>
              </a:rPr>
              <a:t>Achieved Hit Rate HR@10 of 0.86 and NDCG@10 of 0.64, significantly outperforming matrix factorization.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Transit Distance Reduction: </a:t>
            </a:r>
            <a:r>
              <a:rPr lang="en-US" b="0" dirty="0">
                <a:latin typeface="+mn-lt"/>
              </a:rPr>
              <a:t>GNN + RL route optimization reduced daily transit distance by 24.3% vs. greedy nearest neighbor.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End-to-End Latency: </a:t>
            </a:r>
            <a:r>
              <a:rPr lang="en-US" b="0" dirty="0">
                <a:latin typeface="+mn-lt"/>
              </a:rPr>
              <a:t>Asynchronous parallel execution synthesizes complete multi-day itineraries in under 2.8 seconds.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Budget Compliance: </a:t>
            </a:r>
            <a:r>
              <a:rPr lang="en-US" b="0" dirty="0">
                <a:latin typeface="+mn-lt"/>
              </a:rPr>
              <a:t>100% adherence to user-defined budget caps across flight, hotel, and activity allotments.</a:t>
            </a:r>
            <a:endParaRPr lang="en-IN" b="0" dirty="0">
              <a:latin typeface="+mn-lt"/>
            </a:endParaRPr>
          </a:p>
          <a:p>
            <a:r>
              <a:rPr lang="en-US" dirty="0">
                <a:latin typeface="+mn-lt"/>
              </a:rPr>
              <a:t>Database Performance: </a:t>
            </a:r>
            <a:r>
              <a:rPr lang="en-US" b="0" dirty="0">
                <a:latin typeface="+mn-lt"/>
              </a:rPr>
              <a:t>PostgreSQL indexed queries execute in &lt; 15ms; ChromaDB cosine retrieval averages 32ms.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1250204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Successful Project Delivery: </a:t>
            </a:r>
            <a:r>
              <a:rPr lang="en-US" b="0" dirty="0">
                <a:latin typeface="+mn-lt"/>
              </a:rPr>
              <a:t>Delivered a production-ready, autonomous multi-agent travel planning platform fulfilling all Review requirements.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Algorithmic Superiority: </a:t>
            </a:r>
            <a:r>
              <a:rPr lang="en-US" b="0" dirty="0">
                <a:latin typeface="+mn-lt"/>
              </a:rPr>
              <a:t>Demonstrated that combining DL recommendations with GNN spatial optimization overcomes heuristic limits.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Enterprise-Ready Architecture: </a:t>
            </a:r>
            <a:r>
              <a:rPr lang="en-US" b="0" dirty="0">
                <a:latin typeface="+mn-lt"/>
              </a:rPr>
              <a:t>Robust PostgreSQL relational schema paired with ChromaDB vector search provides high reliability.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Future Scope: </a:t>
            </a:r>
            <a:r>
              <a:rPr lang="en-US" b="0" dirty="0">
                <a:latin typeface="+mn-lt"/>
              </a:rPr>
              <a:t>Integration with live payment gateways, multi-modal transport ticketing, and dynamic in-trip re-routing.</a:t>
            </a:r>
            <a:endParaRPr lang="en-IN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University Faculty &amp; Mentors: </a:t>
            </a:r>
            <a:r>
              <a:rPr lang="en-US" b="0" dirty="0">
                <a:latin typeface="+mn-lt"/>
              </a:rPr>
              <a:t>Sincere gratitude to project guides and department faculty for continuous technical guidance.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LTIMindtree Industry Mentors: </a:t>
            </a:r>
            <a:r>
              <a:rPr lang="en-US" b="0" dirty="0">
                <a:latin typeface="+mn-lt"/>
              </a:rPr>
              <a:t>Special thanks to LTIMindtree for industry perspectives, enterprise architecture standards, and review feedback</a:t>
            </a:r>
            <a:r>
              <a:rPr lang="en-US" dirty="0">
                <a:latin typeface="+mn-lt"/>
              </a:rPr>
              <a:t>.</a:t>
            </a:r>
            <a:endParaRPr lang="en-IN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L&amp;T EduTech: </a:t>
            </a:r>
            <a:r>
              <a:rPr lang="en-US" b="0" dirty="0">
                <a:latin typeface="+mn-lt"/>
              </a:rPr>
              <a:t>Gratitude to L&amp;T EduTech for offering the collaborative platform, infrastructure, and structured curriculum.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Open Source Community: </a:t>
            </a:r>
            <a:r>
              <a:rPr lang="en-US" b="0" dirty="0">
                <a:latin typeface="+mn-lt"/>
              </a:rPr>
              <a:t>Acknowledgement of open-source frameworks: PyTorch, FastAPI, PostgreSQL, and Hugging Face.</a:t>
            </a:r>
            <a:endParaRPr lang="en-IN" b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He et al. (2017): </a:t>
            </a:r>
            <a:r>
              <a:rPr lang="en-US" b="0" dirty="0">
                <a:latin typeface="+mn-lt"/>
              </a:rPr>
              <a:t>Neural Collaborative Filtering. Proceedings of the 26th International Conference on World Wide Web (WWW).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Kang &amp; McAuley (2018): </a:t>
            </a:r>
            <a:r>
              <a:rPr lang="en-US" b="0" dirty="0">
                <a:latin typeface="+mn-lt"/>
              </a:rPr>
              <a:t>Self-Attentive Sequential Recommendation (SASRec). IEEE International Conference on Data Mining (ICDM).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Kipf &amp; Welling (2017): </a:t>
            </a:r>
            <a:r>
              <a:rPr lang="en-US" b="0" dirty="0">
                <a:latin typeface="+mn-lt"/>
              </a:rPr>
              <a:t>Semi-Supervised Classification with Graph Convolutional Networks (GCN). ICLR 2017.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Bello et al. (2016): </a:t>
            </a:r>
            <a:r>
              <a:rPr lang="en-US" b="0" dirty="0">
                <a:latin typeface="+mn-lt"/>
              </a:rPr>
              <a:t>Neural Combinatorial Optimization with Reinforcement Learning. arXiv:1611.09940.</a:t>
            </a:r>
            <a:endParaRPr lang="en-IN" b="0" dirty="0">
              <a:latin typeface="+mn-lt"/>
            </a:endParaRPr>
          </a:p>
          <a:p>
            <a:pPr lvl="0"/>
            <a:r>
              <a:rPr lang="en-US" dirty="0">
                <a:latin typeface="+mn-lt"/>
              </a:rPr>
              <a:t>Reimers &amp; Gurevych (2019): Sentence-BERT:</a:t>
            </a:r>
            <a:r>
              <a:rPr lang="en-US" b="0" dirty="0">
                <a:latin typeface="+mn-lt"/>
              </a:rPr>
              <a:t> Sentence Embeddings using Siamese BERT-Networks. EMNLP 2019.</a:t>
            </a:r>
            <a:endParaRPr lang="en-IN" b="0" dirty="0">
              <a:latin typeface="+mn-lt"/>
            </a:endParaRPr>
          </a:p>
          <a:p>
            <a:pPr marL="0" lvl="0" indent="0"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954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Raghu P</cp:lastModifiedBy>
  <cp:revision>19</cp:revision>
  <dcterms:created xsi:type="dcterms:W3CDTF">2024-05-13T10:33:11Z</dcterms:created>
  <dcterms:modified xsi:type="dcterms:W3CDTF">2026-10-05T05:27:40Z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