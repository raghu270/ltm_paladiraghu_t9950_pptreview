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GridOracle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: RAG Powered Generative AI Copilot for Smart Energy Management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Paladi Raghu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25MML0029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1413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Energy Crisis &amp; Cost Burden: </a:t>
            </a:r>
            <a:r>
              <a:rPr lang="en-US" b="0" dirty="0">
                <a:latin typeface="+mn-lt"/>
              </a:rPr>
              <a:t>Commercial and industrial facilities expend 30-40% of operational costs on electrical energy.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Audit Complexity: </a:t>
            </a:r>
            <a:r>
              <a:rPr lang="en-US" b="0" dirty="0">
                <a:latin typeface="+mn-lt"/>
              </a:rPr>
              <a:t>Conventional certified energy audits take weeks, costing thousands of dollars in manual consultant fees.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Regulatory Blindspots: </a:t>
            </a:r>
            <a:r>
              <a:rPr lang="en-US" b="0" dirty="0">
                <a:latin typeface="+mn-lt"/>
              </a:rPr>
              <a:t>Facility managers struggle to navigate evolving BEE star standards, PM-KUSUM, and state tariff structures.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The GridOracle Solution: </a:t>
            </a:r>
            <a:r>
              <a:rPr lang="en-US" b="0" dirty="0">
                <a:latin typeface="+mn-lt"/>
              </a:rPr>
              <a:t>An autonomous, multi-agent GenAI Copilot delivering instantaneous energy audits, policy navigation, and smart meter insights.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2031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Domain-Grounded Q&amp;A: </a:t>
            </a:r>
            <a:r>
              <a:rPr lang="en-US" b="0" dirty="0">
                <a:latin typeface="+mn-lt"/>
              </a:rPr>
              <a:t>Implement Retrieval-Augmented Generation (RAG) over BEE codes, IEEE standards, and MNRE policies.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Automated Audit Reports: </a:t>
            </a:r>
            <a:r>
              <a:rPr lang="en-US" b="0" dirty="0">
                <a:latin typeface="+mn-lt"/>
              </a:rPr>
              <a:t>Synthesize full facility audit reports with power factor penalties and solar PV estimations in seconds.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Actionable Energy Conservation: </a:t>
            </a:r>
            <a:r>
              <a:rPr lang="en-US" b="0" dirty="0">
                <a:latin typeface="+mn-lt"/>
              </a:rPr>
              <a:t>Generate ranked Energy Conservation Measures (ECMs) with verified ROI and payback periods.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Telemetry Ingestion: </a:t>
            </a:r>
            <a:r>
              <a:rPr lang="en-US" b="0" dirty="0">
                <a:latin typeface="+mn-lt"/>
              </a:rPr>
              <a:t>Process high-resolution CSV smart meter feeds for load profiling, demand spikes, and harmonic anomalies.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Production-Grade Reliability: </a:t>
            </a:r>
            <a:r>
              <a:rPr lang="en-US" b="0" dirty="0">
                <a:latin typeface="+mn-lt"/>
              </a:rPr>
              <a:t>Ensure ACID transactional logging with PostgreSQL and low-latency vector search via ChromaDB.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805375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– Multi – Agent System Architecture</a:t>
            </a:r>
          </a:p>
          <a:p>
            <a:pPr lvl="0"/>
            <a:r>
              <a:rPr lang="en-US" dirty="0">
                <a:latin typeface="+mn-lt"/>
              </a:rPr>
              <a:t>Q&amp;A Copilot Agent: </a:t>
            </a:r>
            <a:r>
              <a:rPr lang="en-US" b="0" dirty="0">
                <a:latin typeface="+mn-lt"/>
              </a:rPr>
              <a:t>RAG-driven agent answering technical queries with verified citations from BEE and IEEE standards.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Audit Report Agent: </a:t>
            </a:r>
            <a:r>
              <a:rPr lang="en-US" b="0" dirty="0">
                <a:latin typeface="+mn-lt"/>
              </a:rPr>
              <a:t>Automates facility energy profiling, tariff penalty evaluations, and downloadable executive PDF audits.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Policy Navigator Agent: </a:t>
            </a:r>
            <a:r>
              <a:rPr lang="en-US" b="0" dirty="0">
                <a:latin typeface="+mn-lt"/>
              </a:rPr>
              <a:t>Analyzes state-wise subsidies, net-metering laws, PM-KUSUM, and open-access wheeling charges.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Recommendation Agent: </a:t>
            </a:r>
            <a:r>
              <a:rPr lang="en-US" b="0" dirty="0">
                <a:latin typeface="+mn-lt"/>
              </a:rPr>
              <a:t>Generates prioritized equipment upgrades across motors, compressors, HVAC, and lighting systems.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Smart Meter Analytics Service: </a:t>
            </a:r>
            <a:r>
              <a:rPr lang="en-US" b="0" dirty="0">
                <a:latin typeface="+mn-lt"/>
              </a:rPr>
              <a:t>Parses uploaded telemetry files to compute peak demand, load factor, and power factor surcharges.</a:t>
            </a:r>
            <a:endParaRPr lang="en-IN" b="0" dirty="0">
              <a:latin typeface="+mn-lt"/>
            </a:endParaRP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457033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Data Silos &amp; Latency: </a:t>
            </a:r>
            <a:r>
              <a:rPr lang="en-US" b="0" dirty="0">
                <a:latin typeface="+mn-lt"/>
              </a:rPr>
              <a:t>Facility telemetry remains locked in isolated CSVs/meters without automated intelligence.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Heavy Tariff Penalties: </a:t>
            </a:r>
            <a:r>
              <a:rPr lang="en-US" b="0" dirty="0">
                <a:latin typeface="+mn-lt"/>
              </a:rPr>
              <a:t>Enterprises lose lakhs monthly due to low power factor penalties and unmanaged peak demand surcharges.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LLM Hallucinations</a:t>
            </a:r>
            <a:r>
              <a:rPr lang="en-US" b="0" dirty="0">
                <a:latin typeface="+mn-lt"/>
              </a:rPr>
              <a:t>: Generic LLMs fabricate non-existent energy tariffs, subsidies, and non-compliant engineering values.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Consultant Dependency: </a:t>
            </a:r>
            <a:r>
              <a:rPr lang="en-US" b="0" dirty="0">
                <a:latin typeface="+mn-lt"/>
              </a:rPr>
              <a:t>MSMEs cannot afford certified energy auditors for routine operational efficiency assessments.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396" y="1234637"/>
            <a:ext cx="10945404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Hybrid Multi-Agent Pipeline: </a:t>
            </a:r>
            <a:r>
              <a:rPr lang="en-US" b="0" dirty="0">
                <a:latin typeface="+mn-lt"/>
              </a:rPr>
              <a:t>Task-specific autonomous agents coordinate under FastAPI ASGI to service analytical queries.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RAG Architecture: </a:t>
            </a:r>
            <a:r>
              <a:rPr lang="en-US" b="0" dirty="0">
                <a:latin typeface="+mn-lt"/>
              </a:rPr>
              <a:t>Semantic chunking of statutory energy PDFs with dense vector indexing via OpenAI / MiniLM models.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Deterministic Engineering Engines: </a:t>
            </a:r>
            <a:r>
              <a:rPr lang="en-US" b="0" dirty="0">
                <a:latin typeface="+mn-lt"/>
              </a:rPr>
              <a:t>Pairing GenAI synthesis with deterministic mathematical formulas for PF penalties and solar yield.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Relational Session Management: </a:t>
            </a:r>
            <a:r>
              <a:rPr lang="en-US" b="0" dirty="0">
                <a:latin typeface="+mn-lt"/>
              </a:rPr>
              <a:t>PostgreSQL database manages persistent audit trails, conversation logs, and facility benchmarks.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Interactive Visual Dashboard: </a:t>
            </a:r>
            <a:r>
              <a:rPr lang="en-US" b="0" dirty="0">
                <a:latin typeface="+mn-lt"/>
              </a:rPr>
              <a:t>Streamlit UI with Plotly time-series plots and automated ReportLab PDF audit generation.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Core LLM &amp; RAG Engine: </a:t>
            </a:r>
            <a:r>
              <a:rPr lang="en-US" b="0" dirty="0">
                <a:latin typeface="+mn-lt"/>
              </a:rPr>
              <a:t>OpenAI GPT-4o-mini, text-embedding-3-small, LangChain RAG pipeline with top-k context filtering.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Vector Storage: </a:t>
            </a:r>
            <a:r>
              <a:rPr lang="en-US" b="0" dirty="0">
                <a:latin typeface="+mn-lt"/>
              </a:rPr>
              <a:t>ChromaDB with persistent HNSW cosine vector index for statutory energy documents.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Relational Database: </a:t>
            </a:r>
            <a:r>
              <a:rPr lang="en-US" b="0" dirty="0">
                <a:latin typeface="+mn-lt"/>
              </a:rPr>
              <a:t>PostgreSQL 16 with asyncpg and SQLAlchemy for ACID session and audit tracking.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Backend &amp; APIs: </a:t>
            </a:r>
            <a:r>
              <a:rPr lang="en-US" b="0" dirty="0">
                <a:latin typeface="+mn-lt"/>
              </a:rPr>
              <a:t>Python FastAPI (async ASGI), Pydantic v2 validation schemas, RESTful microservices.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Analytical &amp; Frontend Stack: </a:t>
            </a:r>
            <a:r>
              <a:rPr lang="en-US" b="0" dirty="0">
                <a:latin typeface="+mn-lt"/>
              </a:rPr>
              <a:t>Pandas, NumPy, Plotly for time-series analytics, ReportLab for PDF generation, and Streamlit for web UI.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271976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Zero Hallucinations with RAG: </a:t>
            </a:r>
            <a:r>
              <a:rPr lang="en-US" b="0" dirty="0">
                <a:latin typeface="+mn-lt"/>
              </a:rPr>
              <a:t>100% of regulatory answers backed by direct source citations from BEE/MNRE documentation.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Rapid Audit Generation: </a:t>
            </a:r>
            <a:r>
              <a:rPr lang="en-US" b="0" dirty="0">
                <a:latin typeface="+mn-lt"/>
              </a:rPr>
              <a:t>Complete industrial audit reports generated in &lt; 8 seconds, compared to 3-5 days of manual consultant work.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Identified Cost Savings: </a:t>
            </a:r>
            <a:r>
              <a:rPr lang="en-US" b="0" dirty="0">
                <a:latin typeface="+mn-lt"/>
              </a:rPr>
              <a:t>Average facility simulation identified 8-15% monthly utility bill savings through power factor correction.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Query &amp; Retrieval Latency: </a:t>
            </a:r>
            <a:r>
              <a:rPr lang="en-US" b="0" dirty="0">
                <a:latin typeface="+mn-lt"/>
              </a:rPr>
              <a:t>ChromaDB vector retrieval completes in &lt; 35ms; PostgreSQL query execution resolves in &lt; 12ms.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Smart Meter Profiling: </a:t>
            </a:r>
            <a:r>
              <a:rPr lang="en-US" b="0" dirty="0">
                <a:latin typeface="+mn-lt"/>
              </a:rPr>
              <a:t>Successfully processed 50,000+ telemetry rows with automatic load factor and peak spike detection.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1413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Comprehensive Capstone Delivery: </a:t>
            </a:r>
            <a:r>
              <a:rPr lang="en-US" b="0" dirty="0">
                <a:latin typeface="+mn-lt"/>
              </a:rPr>
              <a:t>Delivered a production-ready, RAG-grounded Energy Copilot fulfilling all Review III benchmarks.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Democratized Energy Audits: </a:t>
            </a:r>
            <a:r>
              <a:rPr lang="en-US" b="0" dirty="0">
                <a:latin typeface="+mn-lt"/>
              </a:rPr>
              <a:t>Empowered small and medium enterprises with certified-grade energy analytics at zero consultant overhead.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Robust Architectural Synergy: </a:t>
            </a:r>
            <a:r>
              <a:rPr lang="en-US" b="0" dirty="0">
                <a:latin typeface="+mn-lt"/>
              </a:rPr>
              <a:t>Demonstrated that combining deterministic energy formulas with RAG ensures both precision and usability.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Future Enhancements: </a:t>
            </a:r>
            <a:r>
              <a:rPr lang="en-US" b="0" dirty="0">
                <a:latin typeface="+mn-lt"/>
              </a:rPr>
              <a:t>Integration with IoT smart meters for live automated telemetry ingestion and automated carbon credit reporting.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152233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University Faculty &amp; Department: </a:t>
            </a:r>
            <a:r>
              <a:rPr lang="en-US" b="0" dirty="0">
                <a:latin typeface="+mn-lt"/>
              </a:rPr>
              <a:t>Heartfelt thanks to project supervisors and faculty for their continuous academic mentorship.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LTIMindtree Industry Mentors: </a:t>
            </a:r>
            <a:r>
              <a:rPr lang="en-US" b="0" dirty="0">
                <a:latin typeface="+mn-lt"/>
              </a:rPr>
              <a:t>Gratitude to LTIMindtree for providing enterprise architecture guidelines, code reviews, and industry insights.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L&amp;T EduTech Coordinators: </a:t>
            </a:r>
            <a:r>
              <a:rPr lang="en-US" b="0" dirty="0">
                <a:latin typeface="+mn-lt"/>
              </a:rPr>
              <a:t>Special appreciation to L&amp;T EduTech for the structured curriculum framework and execution support.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Open Source Community: </a:t>
            </a:r>
            <a:r>
              <a:rPr lang="en-US" b="0" dirty="0">
                <a:latin typeface="+mn-lt"/>
              </a:rPr>
              <a:t>Acknowledging contributions from FastAPI, LangChain, ChromaDB, PostgreSQL, and Streamlit.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223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Bureau of Energy Efficiency (BEE): </a:t>
            </a:r>
            <a:r>
              <a:rPr lang="en-US" b="0" dirty="0">
                <a:latin typeface="+mn-lt"/>
              </a:rPr>
              <a:t>BEE Energy Conservation Act (2001) &amp; Industrial Energy Audit Guidelines, Ministry of Power, India.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Lewis et al. (2020):</a:t>
            </a:r>
            <a:r>
              <a:rPr lang="en-US" b="0" dirty="0">
                <a:latin typeface="+mn-lt"/>
              </a:rPr>
              <a:t> Retrieval-Augmented Generation for Knowledge-Intensive NLP Tasks. Advances in Neural Information Processing Systems (NeurIPS).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Ministry of New &amp; Renewable Energy (MNRE): PM Surya Ghar: </a:t>
            </a:r>
            <a:r>
              <a:rPr lang="en-US" b="0" dirty="0">
                <a:latin typeface="+mn-lt"/>
              </a:rPr>
              <a:t>Muft Bijli Yojana &amp; PM-KUSUM Operational Scheme Guidelines (2024).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IEEE Standards Association: </a:t>
            </a:r>
            <a:r>
              <a:rPr lang="en-US" b="0" dirty="0">
                <a:latin typeface="+mn-lt"/>
              </a:rPr>
              <a:t>IEEE Standard 739 (Recommended Practice for Energy Management in Industrial and Commercial Facilities).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LangChain &amp; ChromaDB Documentation: </a:t>
            </a:r>
            <a:r>
              <a:rPr lang="en-US" b="0" dirty="0">
                <a:latin typeface="+mn-lt"/>
              </a:rPr>
              <a:t>Building Production-Ready RAG Pipelines with Vector Embeddings (2024).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1019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Raghu P</cp:lastModifiedBy>
  <cp:revision>17</cp:revision>
  <dcterms:created xsi:type="dcterms:W3CDTF">2024-05-13T10:33:11Z</dcterms:created>
  <dcterms:modified xsi:type="dcterms:W3CDTF">2026-10-05T06:30:15Z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