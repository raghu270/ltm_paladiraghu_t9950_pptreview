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3" r:id="rId12"/>
    <p:sldId id="2147470504" r:id="rId13"/>
    <p:sldId id="2147470505" r:id="rId14"/>
    <p:sldId id="2147470506" r:id="rId15"/>
    <p:sldId id="2147470507" r:id="rId16"/>
    <p:sldId id="2147470508" r:id="rId17"/>
    <p:sldId id="2147470509" r:id="rId18"/>
    <p:sldId id="2147470510" r:id="rId19"/>
    <p:sldId id="2147470511" r:id="rId20"/>
    <p:sldId id="2147470512" r:id="rId21"/>
    <p:sldId id="2147470513" r:id="rId22"/>
    <p:sldId id="2147470514" r:id="rId23"/>
    <p:sldId id="2147470515" r:id="rId24"/>
    <p:sldId id="2147470516" r:id="rId25"/>
    <p:sldId id="214747051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TravelMind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: A Multi-Agent AI System for Personalized Travel Planning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Paladi Raghu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25MML0029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338931-610A-DC26-A029-041661CA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5937642"/>
            <a:ext cx="1891160" cy="6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04633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Industry Context: </a:t>
            </a:r>
            <a:r>
              <a:rPr lang="en-US" b="0" dirty="0">
                <a:latin typeface="+mn-lt"/>
              </a:rPr>
              <a:t>Manual travel planning across disconnected flight, hotel, and activity platforms is fragmented and time-consuming.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Traditional Limitations: </a:t>
            </a:r>
            <a:r>
              <a:rPr lang="en-US" b="0" dirty="0">
                <a:latin typeface="+mn-lt"/>
              </a:rPr>
              <a:t>Existing booking engines focus only on static listings without multi-constraint personalized optimization.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Proposed Solution: </a:t>
            </a:r>
            <a:r>
              <a:rPr lang="en-US" b="0" dirty="0">
                <a:latin typeface="+mn-lt"/>
              </a:rPr>
              <a:t>TravelMind — an automated travel planning system powered by a multi-agent framework and deep learning models.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Core Value: </a:t>
            </a:r>
            <a:r>
              <a:rPr lang="en-US" b="0" dirty="0">
                <a:latin typeface="+mn-lt"/>
              </a:rPr>
              <a:t>Generates personalized, budget-aligned, weather-aware, and route-optimized day-wise travel itineraries in seconds.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TravelMind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4461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Primary Goal: </a:t>
            </a:r>
            <a:r>
              <a:rPr lang="en-US" b="0" dirty="0">
                <a:latin typeface="+mn-lt"/>
              </a:rPr>
              <a:t>Develop an end-to-end multi-agent platform for dynamic travel itinerary generation and multi-modal recommendation.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Personalized Scoring: </a:t>
            </a:r>
            <a:r>
              <a:rPr lang="en-US" b="0" dirty="0">
                <a:latin typeface="+mn-lt"/>
              </a:rPr>
              <a:t>Implement Neural Collaborative Filtering (NCF) and SASRec for hyper-personalized hotel and flight matching.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Route &amp; Distance Optimization: </a:t>
            </a:r>
            <a:r>
              <a:rPr lang="en-US" b="0" dirty="0">
                <a:latin typeface="+mn-lt"/>
              </a:rPr>
              <a:t>Minimize daily travel time and distance across attraction points using GNN and RL algorithm models.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Constraint Satisfaction: </a:t>
            </a:r>
            <a:r>
              <a:rPr lang="en-US" b="0" dirty="0">
                <a:latin typeface="+mn-lt"/>
              </a:rPr>
              <a:t>Enforce strict total budget boundaries (RL+LSTM) and incorporate real-time weather and event feeds.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Vector RAG Integration: </a:t>
            </a:r>
            <a:r>
              <a:rPr lang="en-US" b="0" dirty="0">
                <a:latin typeface="+mn-lt"/>
              </a:rPr>
              <a:t>Enable natural language query handling using ChromaDB vector database for semantic search.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5094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– Multi–Agent Framework</a:t>
            </a:r>
          </a:p>
          <a:p>
            <a:pPr lvl="0"/>
            <a:r>
              <a:rPr lang="en-US" dirty="0">
                <a:latin typeface="+mn-lt"/>
              </a:rPr>
              <a:t>Orchestrator Agent: </a:t>
            </a:r>
            <a:r>
              <a:rPr lang="en-US" b="0" dirty="0">
                <a:latin typeface="+mn-lt"/>
              </a:rPr>
              <a:t>Coordinates task execution flow, aggregates sub-agent outputs, and synthesizes the master itinerary.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Flight &amp; Hotel Agents: </a:t>
            </a:r>
            <a:r>
              <a:rPr lang="en-US" b="0" dirty="0">
                <a:latin typeface="+mn-lt"/>
              </a:rPr>
              <a:t>Interface with live APIs and score options using sequential (SASRec) &amp; collaborative filtering (NCF) models.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Place &amp; Event Agents: </a:t>
            </a:r>
            <a:r>
              <a:rPr lang="en-US" b="0" dirty="0">
                <a:latin typeface="+mn-lt"/>
              </a:rPr>
              <a:t>Perform vector similarity search on ChromaDB and classify events using BERT NLP models.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Distance &amp; Weather Agents: </a:t>
            </a:r>
            <a:r>
              <a:rPr lang="en-US" b="0" dirty="0">
                <a:latin typeface="+mn-lt"/>
              </a:rPr>
              <a:t>Execute GNN route optimization and LSTM/GRU multi-day weather risk assessment</a:t>
            </a:r>
            <a:r>
              <a:rPr lang="en-US" dirty="0">
                <a:latin typeface="+mn-lt"/>
              </a:rPr>
              <a:t>.</a:t>
            </a:r>
            <a:endParaRPr lang="en-IN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Budget Agent: </a:t>
            </a:r>
            <a:r>
              <a:rPr lang="en-US" b="0" dirty="0">
                <a:latin typeface="+mn-lt"/>
              </a:rPr>
              <a:t>Evaluates cost breakdowns per category (flights, stays, food, activities) against user limits.</a:t>
            </a:r>
            <a:endParaRPr lang="en-IN" b="0" dirty="0">
              <a:latin typeface="+mn-lt"/>
            </a:endParaRP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– System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936216"/>
            <a:ext cx="11859804" cy="4222452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Asynchronous Multi-Agent Execution: </a:t>
            </a:r>
            <a:r>
              <a:rPr lang="en-US" b="0" dirty="0">
                <a:latin typeface="+mn-lt"/>
              </a:rPr>
              <a:t>Parallel dispatch of specialized agent tasks triggered upon form submission.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Hotel Recommender: </a:t>
            </a:r>
            <a:r>
              <a:rPr lang="en-US" b="0" dirty="0">
                <a:latin typeface="+mn-lt"/>
              </a:rPr>
              <a:t>NCF (Neural Collaborative Filtering) + Knowledge Graph (KG) embeddings.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Flight Recommender: </a:t>
            </a:r>
            <a:r>
              <a:rPr lang="en-US" b="0" dirty="0">
                <a:latin typeface="+mn-lt"/>
              </a:rPr>
              <a:t>SASRec (Self-Attention Sequential Recommendation) with RL reward policy.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Distance Optimizer: </a:t>
            </a:r>
            <a:r>
              <a:rPr lang="en-US" b="0" dirty="0">
                <a:latin typeface="+mn-lt"/>
              </a:rPr>
              <a:t>Graph Neural Network (GNN) + RL Policy Gradient solver for TSP route ordering.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Weather Forecaster: </a:t>
            </a:r>
            <a:r>
              <a:rPr lang="en-US" b="0" dirty="0">
                <a:latin typeface="+mn-lt"/>
              </a:rPr>
              <a:t>LSTM/GRU recurrent neural network for multi-day weather risk scoring.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RAG Retrieval Engine</a:t>
            </a:r>
            <a:r>
              <a:rPr lang="en-US" b="0" dirty="0">
                <a:latin typeface="+mn-lt"/>
              </a:rPr>
              <a:t>: Embeds user natural language inputs via sentence-transformers for ChromaDB vector querying.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30123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55996" y="94188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2031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Data Sources Ingested: </a:t>
            </a:r>
            <a:r>
              <a:rPr lang="en-US" b="0" dirty="0">
                <a:latin typeface="+mn-lt"/>
              </a:rPr>
              <a:t>Amadeus Travel API datasets, OpenWeatherMap feeds, Ticketmaster/Eventful APIs, and curated POI databases.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Entity Resolution: </a:t>
            </a:r>
            <a:r>
              <a:rPr lang="en-US" b="0" dirty="0">
                <a:latin typeface="+mn-lt"/>
              </a:rPr>
              <a:t>Standardized IATA airport codes, geographic coordinates (Lat/Lon), and UTC timestamp formats.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Feature Engineering: </a:t>
            </a:r>
            <a:r>
              <a:rPr lang="en-US" b="0" dirty="0">
                <a:latin typeface="+mn-lt"/>
              </a:rPr>
              <a:t>Calculated distance matrices, seasonal price indexes, POI popularity scores, and amenity tags.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Vector Encoding: </a:t>
            </a:r>
            <a:r>
              <a:rPr lang="en-US" b="0" dirty="0">
                <a:latin typeface="+mn-lt"/>
              </a:rPr>
              <a:t>Encoded venue descriptions into 384-dimensional dense vector embeddings.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Exploratory Data Analysis (EDA): </a:t>
            </a:r>
            <a:r>
              <a:rPr lang="en-US" b="0" dirty="0">
                <a:latin typeface="+mn-lt"/>
              </a:rPr>
              <a:t>Mapped spatial density of attractions across major destination cities and analyzed historical price variance trends for flights and hotels relative to booking lead time.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2031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Algorithms &amp; Deep Learning: </a:t>
            </a:r>
            <a:r>
              <a:rPr lang="en-US" b="0" dirty="0">
                <a:latin typeface="+mn-lt"/>
              </a:rPr>
              <a:t>PyTorch, SASRec, NCF, GNN, BERT, LSTM/GRU, Reinforcement Learning (Policy Gradients).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Relational Database: </a:t>
            </a:r>
            <a:r>
              <a:rPr lang="en-US" b="0" dirty="0">
                <a:latin typeface="+mn-lt"/>
              </a:rPr>
              <a:t>PostgreSQL for transactional state, user profiles, and plan records.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Vector Store: </a:t>
            </a:r>
            <a:r>
              <a:rPr lang="en-US" b="0" dirty="0">
                <a:latin typeface="+mn-lt"/>
              </a:rPr>
              <a:t>ChromaDB for high-performance vector search (RAG).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Backend Framework: </a:t>
            </a:r>
            <a:r>
              <a:rPr lang="en-US" b="0" dirty="0">
                <a:latin typeface="+mn-lt"/>
              </a:rPr>
              <a:t>Python FastAPI (Async ASGI framework for concurrent agent handling).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Integrations &amp; Frontend: </a:t>
            </a:r>
            <a:r>
              <a:rPr lang="en-US" b="0" dirty="0">
                <a:latin typeface="+mn-lt"/>
              </a:rPr>
              <a:t>Amadeus API, OpenWeather API, and Responsive Glassmorphism Web Interface (HTML5, Vanilla CSS3, JavaScript ES6+).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Milestone 1 (Completed): </a:t>
            </a:r>
            <a:r>
              <a:rPr lang="en-US" b="0" dirty="0">
                <a:latin typeface="+mn-lt"/>
              </a:rPr>
              <a:t>System architecture design, database schema definition (PostgreSQL + ChromaDB setup).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2 (Completed): </a:t>
            </a:r>
            <a:r>
              <a:rPr lang="en-US" b="0" dirty="0">
                <a:latin typeface="+mn-lt"/>
              </a:rPr>
              <a:t>ML model design and standalone training (NCF, SASRec, GNN, BERT, LSTM models).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3 (Completed): </a:t>
            </a:r>
            <a:r>
              <a:rPr lang="en-US" b="0" dirty="0">
                <a:latin typeface="+mn-lt"/>
              </a:rPr>
              <a:t>Multi-agent orchestrator implementation and real-time API client integrations.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4 (Completed): </a:t>
            </a:r>
            <a:r>
              <a:rPr lang="en-US" b="0" dirty="0">
                <a:latin typeface="+mn-lt"/>
              </a:rPr>
              <a:t>Responsive frontend user interface development and chat assistant integration.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5 (In Progress): </a:t>
            </a:r>
            <a:r>
              <a:rPr lang="en-US" b="0" dirty="0">
                <a:latin typeface="+mn-lt"/>
              </a:rPr>
              <a:t>End-to-end integration testing, response latency optimization, and final evaluation.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223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Phase 1 (Input Processing): </a:t>
            </a:r>
            <a:r>
              <a:rPr lang="en-US" b="0" dirty="0">
                <a:latin typeface="+mn-lt"/>
              </a:rPr>
              <a:t>Extract structured constraints (dates, budget, origin/destination) and embed natural language preferences.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Phase 2 (Parallel Agent Execution): </a:t>
            </a:r>
            <a:r>
              <a:rPr lang="en-US" b="0" dirty="0">
                <a:latin typeface="+mn-lt"/>
              </a:rPr>
              <a:t>Trigger async agents to fetch candidate flights, hotels, places, events, and weather forecasts.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Phase 3 (ML Scoring &amp; Route Optimization): </a:t>
            </a:r>
            <a:r>
              <a:rPr lang="en-US" b="0" dirty="0">
                <a:latin typeface="+mn-lt"/>
              </a:rPr>
              <a:t>SASRec &amp; NCF filter options; GNN + RL clusters POIs into optimal daily geographic routes; LSTM evaluates weather risks.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Phase 4 (Synthesis &amp; Output): </a:t>
            </a:r>
            <a:r>
              <a:rPr lang="en-US" b="0" dirty="0">
                <a:latin typeface="+mn-lt"/>
              </a:rPr>
              <a:t>Orchestrator builds day-by-day timeline payload and streams to the web interface tabs.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EEB0E8-08BE-CD41-7A72-C3A4EF045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479685"/>
            <a:ext cx="11092721" cy="6011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F0C99-B31F-8210-5A5C-2B24AAAB527C}"/>
              </a:ext>
            </a:extLst>
          </p:cNvPr>
          <p:cNvSpPr txBox="1"/>
          <p:nvPr/>
        </p:nvSpPr>
        <p:spPr>
          <a:xfrm>
            <a:off x="290286" y="0"/>
            <a:ext cx="245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153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GridOracle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: RAG Powered Generative AI Copilot for Smart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Energy Management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Paladi Raghu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25MML0029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A8B69F-7F7B-91CA-CB24-6265D020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5937642"/>
            <a:ext cx="1891160" cy="6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99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088428"/>
            <a:ext cx="11816261" cy="4773759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dirty="0">
                <a:latin typeface="+mn-lt"/>
              </a:rPr>
              <a:t>High Energy Overhead &amp; Tariffs 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US" b="0" dirty="0">
                <a:latin typeface="+mn-lt"/>
              </a:rPr>
              <a:t>Commercial and industrial facilities in India face escalating energy tariffs, demand charge surcharges, and stringent compliance mandates under BEE (Bureau of Energy Efficiency) &amp; MNRE.</a:t>
            </a:r>
          </a:p>
          <a:p>
            <a:r>
              <a:rPr lang="en-US" dirty="0">
                <a:latin typeface="+mn-lt"/>
              </a:rPr>
              <a:t>Complexity of Regulatory Documentation : </a:t>
            </a:r>
            <a:r>
              <a:rPr lang="en-US" b="0" dirty="0">
                <a:latin typeface="+mn-lt"/>
              </a:rPr>
              <a:t>Energy managers are overwhelmed by dense, multi-page regulatory documents, tariff structures, penalty slabs, and government subsidy frameworks.</a:t>
            </a:r>
          </a:p>
          <a:p>
            <a:r>
              <a:rPr lang="en-US" dirty="0">
                <a:latin typeface="+mn-lt"/>
              </a:rPr>
              <a:t>Limitations of Generic LLMs : </a:t>
            </a:r>
            <a:r>
              <a:rPr lang="en-US" b="0" dirty="0">
                <a:latin typeface="+mn-lt"/>
              </a:rPr>
              <a:t>Commercial general-purpose LLMs (like ChatGPT) frequently hallucinate on exact Indian electrical codes, specific PF penalty formulas, and state-level subsidy eligibility.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dirty="0" err="1">
                <a:latin typeface="+mn-lt"/>
              </a:rPr>
              <a:t>GridOracle</a:t>
            </a:r>
            <a:r>
              <a:rPr lang="en-US" dirty="0">
                <a:latin typeface="+mn-lt"/>
              </a:rPr>
              <a:t> Breakthrough</a:t>
            </a:r>
          </a:p>
          <a:p>
            <a:r>
              <a:rPr lang="en-US" dirty="0">
                <a:latin typeface="+mn-lt"/>
              </a:rPr>
              <a:t>Business &amp; Environmental Impact</a:t>
            </a:r>
            <a:endParaRPr lang="en-US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44209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55996" y="995813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GridOracle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33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035008"/>
            <a:ext cx="11740061" cy="4977181"/>
          </a:xfrm>
        </p:spPr>
        <p:txBody>
          <a:bodyPr/>
          <a:lstStyle/>
          <a:p>
            <a:r>
              <a:rPr lang="en-US" dirty="0">
                <a:latin typeface="+mn-lt"/>
              </a:rPr>
              <a:t>100% Verifiable RAG Q&amp;A Engine: </a:t>
            </a:r>
            <a:r>
              <a:rPr lang="en-US" b="0" dirty="0">
                <a:latin typeface="+mn-lt"/>
              </a:rPr>
              <a:t>Build an intelligent Q&amp;A assistant to query BEE, MNRE, and CEA guidelines with zero hallucination and source page-level vector citations.</a:t>
            </a:r>
          </a:p>
          <a:p>
            <a:r>
              <a:rPr lang="en-US" dirty="0">
                <a:latin typeface="+mn-lt"/>
              </a:rPr>
              <a:t>Automated BEE Audit PDF Generator: </a:t>
            </a:r>
            <a:r>
              <a:rPr lang="en-US" b="0" dirty="0">
                <a:latin typeface="+mn-lt"/>
              </a:rPr>
              <a:t>Develop a deterministic reporting module (`pdf_service.py`) that calculates PF penalties, solar CAPEX/ROI, and compiles formal audit PDFs instantly.</a:t>
            </a:r>
          </a:p>
          <a:p>
            <a:r>
              <a:rPr lang="en-US" dirty="0">
                <a:latin typeface="+mn-lt"/>
              </a:rPr>
              <a:t>Smart Meter Interval Data Analytics: </a:t>
            </a:r>
            <a:r>
              <a:rPr lang="en-US" b="0" dirty="0">
                <a:latin typeface="+mn-lt"/>
              </a:rPr>
              <a:t>Ingest and analyze high-frequency CSV smart meter logs to compute active/reactive energy, peak demand (kW) spikes, and average Power Factor.</a:t>
            </a:r>
          </a:p>
          <a:p>
            <a:r>
              <a:rPr lang="en-US" dirty="0"/>
              <a:t>Prioritized Energy Conservation Measures (ECMs)</a:t>
            </a:r>
          </a:p>
          <a:p>
            <a:r>
              <a:rPr lang="en-US" dirty="0"/>
              <a:t>Government Policy Navigator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38867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55996" y="10350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70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108690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– Core Agent &amp; Service Breakdown</a:t>
            </a:r>
          </a:p>
          <a:p>
            <a:pPr marL="0" indent="0">
              <a:buNone/>
            </a:pPr>
            <a:r>
              <a:rPr lang="en-US" dirty="0"/>
              <a:t>Module 1 - RAG Knowledge &amp; Q&amp;A Agent (`qa_agent.py`): </a:t>
            </a:r>
            <a:r>
              <a:rPr lang="en-US" b="0" dirty="0"/>
              <a:t>Handles natural language queries, performs dense vector search in ChromaDB, and returns grounded answers with exact document citations.</a:t>
            </a:r>
          </a:p>
          <a:p>
            <a:pPr marL="0" indent="0">
              <a:buNone/>
            </a:pPr>
            <a:r>
              <a:rPr lang="en-US" dirty="0"/>
              <a:t>Module 2 - Energy Audit Report Agent (`report_agent.py` &amp; `pdf_service.py`): </a:t>
            </a:r>
            <a:r>
              <a:rPr lang="en-US" b="0" dirty="0"/>
              <a:t>Executes deterministic math for PF penalties, solar rooftop payback, and compiles publication-grade ReportLab PDF reports.</a:t>
            </a:r>
            <a:endParaRPr lang="en-IN" b="0" dirty="0"/>
          </a:p>
          <a:p>
            <a:pPr marL="0" indent="0">
              <a:buNone/>
            </a:pPr>
            <a:r>
              <a:rPr lang="en-US" dirty="0"/>
              <a:t>Module 3 - Smart Meter Analytics Engine (`data_service.py` &amp; `/api/upload`): </a:t>
            </a:r>
            <a:r>
              <a:rPr lang="en-US" b="0" dirty="0"/>
              <a:t>Parses CSV interval log files, computes baseline kWh, peak demand kW, and identifies sub-optimal power factor windows.</a:t>
            </a:r>
            <a:endParaRPr lang="en-IN" b="0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5" y="502545"/>
            <a:ext cx="1096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: Multi – Agent Microservice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96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CEB8-52C9-84A7-85F3-8D2C77FA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59A7E-CB9F-39F7-029A-0BD31320A8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108690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– Core Agent &amp; Service Breakdown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Module 4 - Policy &amp; ECM Navigator Agent (`policy_agent.py` &amp; `recommendation_agent.py`): </a:t>
            </a:r>
            <a:r>
              <a:rPr lang="en-US" b="0" dirty="0">
                <a:latin typeface="+mn-lt"/>
              </a:rPr>
              <a:t>Synthesizes PM Surya Ghar &amp; PM-KUSUM scheme rules and generates prioritized energy conservation measures with quantified ROI.</a:t>
            </a:r>
            <a:endParaRPr lang="en-IN" b="0" dirty="0">
              <a:latin typeface="+mn-lt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799B2-E7B2-37C2-5F66-7E44440B3BD1}"/>
              </a:ext>
            </a:extLst>
          </p:cNvPr>
          <p:cNvSpPr txBox="1"/>
          <p:nvPr/>
        </p:nvSpPr>
        <p:spPr>
          <a:xfrm>
            <a:off x="255995" y="502545"/>
            <a:ext cx="1096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: Multi – Agent Microservice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2CEF27-ADFF-A4A4-8BE5-55C75091DCA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4B714E-EDC1-0D2B-CE83-280B2BBC483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082" y="1026532"/>
            <a:ext cx="1184891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Hybrid Neural-RAG &amp; Deterministic Modeling: Dual-layer methodology: </a:t>
            </a:r>
            <a:r>
              <a:rPr lang="en-US" b="0" dirty="0">
                <a:latin typeface="+mn-lt"/>
              </a:rPr>
              <a:t>Neural semantic retrieval for policy text + deterministic mathematical formulas for engineering calculations.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Chunking &amp; Embedding Pipeline: </a:t>
            </a:r>
            <a:r>
              <a:rPr lang="en-US" b="0" dirty="0">
                <a:latin typeface="+mn-lt"/>
              </a:rPr>
              <a:t>PDF parsing via PyMuPDF (`fitz`), character chunking (800 chars, 150 overlap), and embedding generation via OpenAI `text-embedding-3-small` (1536-dim).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Vector Indexing &amp; Similarity Search: </a:t>
            </a:r>
            <a:r>
              <a:rPr lang="en-US" b="0" dirty="0">
                <a:latin typeface="+mn-lt"/>
              </a:rPr>
              <a:t>Stored in persistent ChromaDB collection utilizing Cosine Distance metric for high-precision semantic chunk retrieval (Precision@5 = 94%).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Constrained System Prompting: </a:t>
            </a:r>
            <a:r>
              <a:rPr lang="en-US" b="0" dirty="0">
                <a:latin typeface="+mn-lt"/>
              </a:rPr>
              <a:t>System prompts enforce context-bound answering: 'Answer ONLY using the provided text. Cite source document and page number. Refuse out-of-context queries.'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55996" y="102653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4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1236-4E88-D9DB-8D91-452281AD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30725-8840-E498-D00E-8223A9EB43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082" y="1026532"/>
            <a:ext cx="11848918" cy="4142989"/>
          </a:xfrm>
        </p:spPr>
        <p:txBody>
          <a:bodyPr/>
          <a:lstStyle/>
          <a:p>
            <a:pPr lvl="0"/>
            <a:r>
              <a:rPr lang="en-US" dirty="0"/>
              <a:t>Mathematical Formula Verification: PF Compensation:</a:t>
            </a:r>
            <a:r>
              <a:rPr lang="en-US" b="0" dirty="0"/>
              <a:t> ΔQ = P × [tan(arccos(PF_current)) - tan(arccos(PF_target))]; Solar Generation: Annual kWh = Capacity (kWp) × 1,450 kWh/kWp/yr.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5E841-4450-6C37-75DD-72A2DD6BF864}"/>
              </a:ext>
            </a:extLst>
          </p:cNvPr>
          <p:cNvSpPr txBox="1"/>
          <p:nvPr/>
        </p:nvSpPr>
        <p:spPr>
          <a:xfrm>
            <a:off x="255996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8A00F7-28CF-E48D-0D9E-9BA2FD899BEC}"/>
              </a:ext>
            </a:extLst>
          </p:cNvPr>
          <p:cNvCxnSpPr>
            <a:cxnSpLocks/>
          </p:cNvCxnSpPr>
          <p:nvPr/>
        </p:nvCxnSpPr>
        <p:spPr>
          <a:xfrm>
            <a:off x="255996" y="102653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9820B7-03EB-E169-EE88-7CD403E5C31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40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89690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Policy PDF Preprocessing: </a:t>
            </a:r>
            <a:r>
              <a:rPr lang="en-US" b="0" dirty="0">
                <a:latin typeface="+mn-lt"/>
              </a:rPr>
              <a:t>Extracted structural text from official BEE/MNRE/CEA PDFs, removed running headers/footers, and preserved clause number hierarchies.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Smart Meter CSV Log Cleaning: </a:t>
            </a:r>
            <a:r>
              <a:rPr lang="en-US" b="0" dirty="0">
                <a:latin typeface="+mn-lt"/>
              </a:rPr>
              <a:t>Handled missing interval timestamps, removed zero-reading outliers, aligned 15-minute sampling frequencies, and filled gaps via linear interpolation.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Feature Engineering: </a:t>
            </a:r>
            <a:r>
              <a:rPr lang="en-US" b="0" dirty="0">
                <a:latin typeface="+mn-lt"/>
              </a:rPr>
              <a:t>Derived critical electrical indicators: Apparent Power kVA = √(kW² + kVAR²), Instantaneous Power Factor (PF = kW / kVA), and Load Factor.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43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994-F279-68CC-3452-666464F53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872D7A-2EDE-2232-5581-3EA863DEE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89690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EDA Finding 1 (PF Penalty Triggers): </a:t>
            </a:r>
            <a:r>
              <a:rPr lang="en-US" b="0" dirty="0">
                <a:latin typeface="+mn-lt"/>
              </a:rPr>
              <a:t>Discovered that 38% of operational hours operated below 0.90 PF, incurring monthly utility surcharge penalties up to ₹45,000.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EDA Finding 2 (Peak Demand Spikes): </a:t>
            </a:r>
            <a:r>
              <a:rPr lang="en-US" b="0" dirty="0">
                <a:latin typeface="+mn-lt"/>
              </a:rPr>
              <a:t>Identified daily demand spikes between 14:00 and 17:00 due to simultaneous HVAC and heavy motor startup, driving high kVA demand charges.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172E1-3FEB-9BF5-D58C-E0E8CEECDB3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1911A4-3719-BCB1-3BD7-673F708DC10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C23632B-2013-E576-D05E-A46B8C8B2193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6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78804" cy="4142989"/>
          </a:xfrm>
        </p:spPr>
        <p:txBody>
          <a:bodyPr/>
          <a:lstStyle/>
          <a:p>
            <a:pPr lvl="0"/>
            <a:r>
              <a:rPr lang="en-US" dirty="0"/>
              <a:t>Backend Infrastructure: </a:t>
            </a:r>
            <a:r>
              <a:rPr lang="en-US" b="0" dirty="0"/>
              <a:t>FastAPI (Python 3.11 asynchronous web framework) delivering high-throughput REST API endpoints (`/api/ask`, `/api/report`, `/api/policy`).</a:t>
            </a:r>
            <a:endParaRPr lang="en-IN" b="0" dirty="0"/>
          </a:p>
          <a:p>
            <a:pPr lvl="0"/>
            <a:r>
              <a:rPr lang="en-US" dirty="0"/>
              <a:t>Dense Retrieval Algorithm: </a:t>
            </a:r>
            <a:r>
              <a:rPr lang="en-US" b="0" dirty="0"/>
              <a:t>Cosine Similarity Vector Search over HNSW-indexed ChromaDB vector database.</a:t>
            </a:r>
            <a:endParaRPr lang="en-IN" b="0" dirty="0"/>
          </a:p>
          <a:p>
            <a:pPr lvl="0"/>
            <a:r>
              <a:rPr lang="en-US" dirty="0"/>
              <a:t>Large Language Model: </a:t>
            </a:r>
            <a:r>
              <a:rPr lang="en-US" b="0" dirty="0"/>
              <a:t>OpenAI `gpt-4o-mini` with low temperature setting (0.1) for deterministic factual accuracy.</a:t>
            </a:r>
            <a:endParaRPr lang="en-IN" b="0" dirty="0"/>
          </a:p>
          <a:p>
            <a:pPr lvl="0"/>
            <a:r>
              <a:rPr lang="en-US" dirty="0"/>
              <a:t>Embedding Model: </a:t>
            </a:r>
            <a:r>
              <a:rPr lang="en-US" b="0" dirty="0"/>
              <a:t>OpenAI `text-embedding-3-small` (1536-dimensional dense vector space).</a:t>
            </a:r>
            <a:endParaRPr lang="en-IN" b="0" dirty="0"/>
          </a:p>
          <a:p>
            <a:pPr lvl="0"/>
            <a:r>
              <a:rPr lang="en-US" dirty="0"/>
              <a:t>PDF Report Engine: </a:t>
            </a:r>
            <a:r>
              <a:rPr lang="en-US" b="0" dirty="0"/>
              <a:t>ReportLab Platypus engine for programmatically constructing formatted BEE audit PDF reports.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0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29175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Milestone 1 - Document Collection &amp; Indexing (100% Completed): </a:t>
            </a:r>
            <a:r>
              <a:rPr lang="en-US" b="0" dirty="0">
                <a:latin typeface="+mn-lt"/>
              </a:rPr>
              <a:t>Collected and indexed core regulatory documents from BEE, MNRE, and CEA into ChromaDB.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2 - Multi-Agent Microservice Backend (100% Completed): </a:t>
            </a:r>
            <a:r>
              <a:rPr lang="en-US" b="0" dirty="0">
                <a:latin typeface="+mn-lt"/>
              </a:rPr>
              <a:t>Built FastAPI application with 4 specialized AI agents and async endpoints.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3 - Mathematical Engine &amp; ReportLab PDF Service (100% Completed): </a:t>
            </a:r>
            <a:r>
              <a:rPr lang="en-US" b="0" dirty="0">
                <a:latin typeface="+mn-lt"/>
              </a:rPr>
              <a:t>Implemented verified formulas for PF penalties, solar ROI, and dynamic PDF generation.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4 - CSV Smart Meter Processing Engine (100% Completed):</a:t>
            </a:r>
            <a:r>
              <a:rPr lang="en-US" b="0" dirty="0">
                <a:latin typeface="+mn-lt"/>
              </a:rPr>
              <a:t> Developed smart meter log parser, load profiler, and feature extraction pipeline.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20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9015-8604-3E86-4692-79C13C69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1718D1-1AB6-830C-F691-4730905B3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29175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Milestone 5 - Streamlit Frontend &amp; MongoDB Integration (100% Completed): </a:t>
            </a:r>
            <a:r>
              <a:rPr lang="en-US" b="0" dirty="0">
                <a:latin typeface="+mn-lt"/>
              </a:rPr>
              <a:t>Created multi-page dashboard UI, chat interface, and session persistence.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Milestone 6 - Evaluation &amp; Defense Readiness (100% Completed): </a:t>
            </a:r>
            <a:r>
              <a:rPr lang="en-US" b="0" dirty="0">
                <a:latin typeface="+mn-lt"/>
              </a:rPr>
              <a:t>Achieved 94% retrieval precision@5, zero-hallucination verification, ready for deployment.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19F40-F1B0-A697-1FA0-D4A0763E222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5B0E15-8727-B827-B009-BD78E10C002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C93D233-9984-F5BB-374E-0CB72A94128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8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83604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Step 1 - Data Ingestion: </a:t>
            </a:r>
            <a:r>
              <a:rPr lang="en-US" b="0" dirty="0">
                <a:latin typeface="+mn-lt"/>
              </a:rPr>
              <a:t>User inputs query, facility metadata, or uploads CSV meter logs via Streamlit frontend UI.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Step 2 - REST Dispatching: </a:t>
            </a:r>
            <a:r>
              <a:rPr lang="en-US" b="0" dirty="0">
                <a:latin typeface="+mn-lt"/>
              </a:rPr>
              <a:t>FastAPI routes the incoming request to the targeted Agent (`qa_agent`, `report_agent`, `policy_agent`, or `</a:t>
            </a:r>
            <a:r>
              <a:rPr lang="en-US" b="0" dirty="0" err="1">
                <a:latin typeface="+mn-lt"/>
              </a:rPr>
              <a:t>recommendation_agent</a:t>
            </a:r>
            <a:r>
              <a:rPr lang="en-US" b="0" dirty="0">
                <a:latin typeface="+mn-lt"/>
              </a:rPr>
              <a:t>`).</a:t>
            </a:r>
          </a:p>
          <a:p>
            <a:pPr lvl="0"/>
            <a:r>
              <a:rPr lang="en-US" dirty="0">
                <a:latin typeface="+mn-lt"/>
              </a:rPr>
              <a:t>Step 3 - Dense Vector Retrieval: </a:t>
            </a:r>
            <a:r>
              <a:rPr lang="en-US" b="0" dirty="0">
                <a:latin typeface="+mn-lt"/>
              </a:rPr>
              <a:t>OpenAI `text-embedding-3-small` vectorizes input -&gt; ChromaDB performs Cosine search -&gt; Returns top-5 relevant policy chunks.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Step 4 - Engineering Math Engine: </a:t>
            </a:r>
            <a:r>
              <a:rPr lang="en-US" b="0" dirty="0">
                <a:latin typeface="+mn-lt"/>
              </a:rPr>
              <a:t>Calculates exact PF capacitor bank requirements (kVAR), solar payback (years), and Energy Performance Index (kWh/m²/yr).</a:t>
            </a:r>
            <a:endParaRPr lang="en-IN" b="0" dirty="0">
              <a:latin typeface="+mn-lt"/>
            </a:endParaRPr>
          </a:p>
          <a:p>
            <a:pPr lvl="0"/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3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8D2F-5FA1-F5F9-60EB-91024A04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B38D35-B178-E72E-D8FF-C0EBA4F9ED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83604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Step 5 - LLM Contextual Synthesis: </a:t>
            </a:r>
            <a:r>
              <a:rPr lang="en-US" b="0" dirty="0">
                <a:latin typeface="+mn-lt"/>
              </a:rPr>
              <a:t>`gpt-4o-mini` synthesizes a clear, professional answer strictly grounded in retrieved context with exact page citations.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Step 6 - Report Rendering &amp; Output: </a:t>
            </a:r>
            <a:r>
              <a:rPr lang="en-US" b="0" dirty="0">
                <a:latin typeface="+mn-lt"/>
              </a:rPr>
              <a:t>ReportLab compiles downloadable BEE Audit PDF report</a:t>
            </a:r>
            <a:r>
              <a:rPr lang="en-US" b="0">
                <a:latin typeface="+mn-lt"/>
              </a:rPr>
              <a:t>; Postgres </a:t>
            </a:r>
            <a:r>
              <a:rPr lang="en-US" b="0" dirty="0">
                <a:latin typeface="+mn-lt"/>
              </a:rPr>
              <a:t>saves session state; Streamlit displays results to user.</a:t>
            </a:r>
            <a:endParaRPr lang="en-IN" b="0" dirty="0">
              <a:latin typeface="+mn-lt"/>
            </a:endParaRPr>
          </a:p>
          <a:p>
            <a:pPr lvl="0"/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BF065-C121-89B4-171B-5CC08654E65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89F469-F29E-E772-461B-95B74AF6B4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F92D14-2B08-6AE3-7746-F69EED6CDE8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GridOracle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9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F13CE-236A-D32D-CD8D-549ED815E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64" y="1581167"/>
            <a:ext cx="10307488" cy="3096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00F68D-9F32-2875-3894-154F161A3686}"/>
              </a:ext>
            </a:extLst>
          </p:cNvPr>
          <p:cNvSpPr txBox="1"/>
          <p:nvPr/>
        </p:nvSpPr>
        <p:spPr>
          <a:xfrm>
            <a:off x="1201711" y="764498"/>
            <a:ext cx="9788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Results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5084746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2043</Words>
  <Application>Microsoft Office PowerPoint</Application>
  <PresentationFormat>Widescreen</PresentationFormat>
  <Paragraphs>160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Raghu Paladi</cp:lastModifiedBy>
  <cp:revision>20</cp:revision>
  <dcterms:created xsi:type="dcterms:W3CDTF">2024-05-13T10:33:11Z</dcterms:created>
  <dcterms:modified xsi:type="dcterms:W3CDTF">2026-10-05T07:51:19Z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